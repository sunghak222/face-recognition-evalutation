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8"/>
  </p:notesMasterIdLst>
  <p:sldIdLst>
    <p:sldId id="256" r:id="rId2"/>
    <p:sldId id="257" r:id="rId3"/>
    <p:sldId id="266" r:id="rId4"/>
    <p:sldId id="258" r:id="rId5"/>
    <p:sldId id="259" r:id="rId6"/>
    <p:sldId id="295" r:id="rId7"/>
    <p:sldId id="261" r:id="rId8"/>
    <p:sldId id="262" r:id="rId9"/>
    <p:sldId id="263" r:id="rId10"/>
    <p:sldId id="264" r:id="rId11"/>
    <p:sldId id="267" r:id="rId12"/>
    <p:sldId id="272" r:id="rId13"/>
    <p:sldId id="270" r:id="rId14"/>
    <p:sldId id="273" r:id="rId15"/>
    <p:sldId id="276" r:id="rId16"/>
    <p:sldId id="275" r:id="rId17"/>
    <p:sldId id="278" r:id="rId18"/>
    <p:sldId id="277" r:id="rId19"/>
    <p:sldId id="297" r:id="rId20"/>
    <p:sldId id="280" r:id="rId21"/>
    <p:sldId id="281" r:id="rId22"/>
    <p:sldId id="282" r:id="rId23"/>
    <p:sldId id="283" r:id="rId24"/>
    <p:sldId id="284" r:id="rId25"/>
    <p:sldId id="285" r:id="rId26"/>
    <p:sldId id="291" r:id="rId27"/>
    <p:sldId id="292" r:id="rId28"/>
    <p:sldId id="294" r:id="rId29"/>
    <p:sldId id="298" r:id="rId30"/>
    <p:sldId id="287" r:id="rId31"/>
    <p:sldId id="288" r:id="rId32"/>
    <p:sldId id="289" r:id="rId33"/>
    <p:sldId id="300" r:id="rId34"/>
    <p:sldId id="268" r:id="rId35"/>
    <p:sldId id="269" r:id="rId36"/>
    <p:sldId id="27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0E5D13-C887-267C-752A-36BB5286BB0D}" v="299" dt="2025-04-13T09:30:13.650"/>
    <p1510:client id="{4EAAD416-D4B0-C9A4-5A68-58A59BA99D64}" v="41" dt="2025-04-13T14:32:59.230"/>
    <p1510:client id="{66D779D6-F69C-6C00-9339-A99C992DE285}" v="27" dt="2025-04-13T09:15:48.552"/>
    <p1510:client id="{6B440DB9-8919-FC46-A27A-0FD96CBCF579}" v="2971" dt="2025-04-12T09:12:38.045"/>
    <p1510:client id="{821990A7-2221-A5AE-11AB-BAA08B175FDF}" v="1523" dt="2025-04-13T10:16:10.743"/>
    <p1510:client id="{9DCD50C1-9DC5-62FF-E162-7AAE56F07DD8}" v="635" dt="2025-04-12T08:15:33.509"/>
    <p1510:client id="{BED06954-B55F-37B5-7C4A-0558E50AC7A8}" v="16" dt="2025-04-13T09:32:14.952"/>
    <p1510:client id="{CA8BF266-25D7-66BE-BDA2-9EC1A8EDDB34}" v="2" dt="2025-04-13T06:38:20.5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6"/>
  </p:normalViewPr>
  <p:slideViewPr>
    <p:cSldViewPr snapToGrid="0">
      <p:cViewPr varScale="1">
        <p:scale>
          <a:sx n="114" d="100"/>
          <a:sy n="114" d="100"/>
        </p:scale>
        <p:origin x="7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720C9A-669D-D045-A01D-EF07C26F0EE9}" type="datetimeFigureOut">
              <a:rPr lang="en-KR" smtClean="0"/>
              <a:t>4/15/25</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11485F-E836-234E-851D-0C8FAFD50945}" type="slidenum">
              <a:rPr lang="en-KR" smtClean="0"/>
              <a:t>‹#›</a:t>
            </a:fld>
            <a:endParaRPr lang="en-KR"/>
          </a:p>
        </p:txBody>
      </p:sp>
    </p:spTree>
    <p:extLst>
      <p:ext uri="{BB962C8B-B14F-4D97-AF65-F5344CB8AC3E}">
        <p14:creationId xmlns:p14="http://schemas.microsoft.com/office/powerpoint/2010/main" val="659784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2400" b="0"/>
              <a:t>“Both </a:t>
            </a:r>
            <a:r>
              <a:rPr lang="en-US" sz="2400" b="0" err="1"/>
              <a:t>ArcFace</a:t>
            </a:r>
            <a:r>
              <a:rPr lang="en-US" sz="2400" b="0"/>
              <a:t> and </a:t>
            </a:r>
            <a:r>
              <a:rPr lang="en-US" sz="2400" b="0" err="1"/>
              <a:t>CurricularFace</a:t>
            </a:r>
            <a:r>
              <a:rPr lang="en-US" sz="2400" b="0"/>
              <a:t> use </a:t>
            </a:r>
            <a:r>
              <a:rPr lang="en-US" sz="2400" b="0" err="1"/>
              <a:t>buffalo_l</a:t>
            </a:r>
            <a:r>
              <a:rPr lang="en-US" sz="2400" b="0"/>
              <a:t> for face detection, landmark localization, and alignment.”</a:t>
            </a:r>
          </a:p>
          <a:p>
            <a:pPr>
              <a:buNone/>
            </a:pPr>
            <a:r>
              <a:rPr lang="en-US" sz="2400" b="0"/>
              <a:t>“The difference is in the final step: </a:t>
            </a:r>
            <a:r>
              <a:rPr lang="en-US" sz="2400" b="0" err="1"/>
              <a:t>ArcFace</a:t>
            </a:r>
            <a:r>
              <a:rPr lang="en-US" sz="2400" b="0"/>
              <a:t> uses </a:t>
            </a:r>
            <a:r>
              <a:rPr lang="en-US" sz="2400" b="0" err="1"/>
              <a:t>buffalo_l</a:t>
            </a:r>
            <a:r>
              <a:rPr lang="en-US" sz="2400" b="0"/>
              <a:t> for embedding extraction, while </a:t>
            </a:r>
            <a:r>
              <a:rPr lang="en-US" sz="2400" b="0" err="1"/>
              <a:t>CurricularFace</a:t>
            </a:r>
            <a:r>
              <a:rPr lang="en-US" sz="2400" b="0"/>
              <a:t> uses a separate model called IR_101.”</a:t>
            </a:r>
          </a:p>
          <a:p>
            <a:r>
              <a:rPr lang="en-US" sz="2400" b="0"/>
              <a:t>“IR_101 is a deep convolutional neural network specifically trained with </a:t>
            </a:r>
            <a:r>
              <a:rPr lang="en-US" sz="2400" b="0" err="1"/>
              <a:t>CurricularFace</a:t>
            </a:r>
            <a:r>
              <a:rPr lang="en-US" sz="2400" b="0"/>
              <a:t> loss.”</a:t>
            </a:r>
          </a:p>
          <a:p>
            <a:r>
              <a:rPr lang="en-US" sz="2400" b="0"/>
              <a:t>The overall pipeline is the same, but </a:t>
            </a:r>
            <a:r>
              <a:rPr lang="en-US" sz="2400" b="0" err="1"/>
              <a:t>CurricularFace</a:t>
            </a:r>
            <a:r>
              <a:rPr lang="en-US" sz="2400" b="0"/>
              <a:t> separates the final step with its own specialized model, while </a:t>
            </a:r>
            <a:r>
              <a:rPr lang="en-US" sz="2400" b="0" err="1"/>
              <a:t>ArcFace</a:t>
            </a:r>
            <a:r>
              <a:rPr lang="en-US" sz="2400" b="0"/>
              <a:t> uses the all-in-one </a:t>
            </a:r>
            <a:r>
              <a:rPr lang="en-US" sz="2400" b="0" err="1"/>
              <a:t>buffalo_l</a:t>
            </a:r>
            <a:r>
              <a:rPr lang="en-US" sz="2400" b="0"/>
              <a:t> package</a:t>
            </a:r>
            <a:endParaRPr lang="en-KR" sz="2400" b="0"/>
          </a:p>
        </p:txBody>
      </p:sp>
      <p:sp>
        <p:nvSpPr>
          <p:cNvPr id="4" name="Slide Number Placeholder 3"/>
          <p:cNvSpPr>
            <a:spLocks noGrp="1"/>
          </p:cNvSpPr>
          <p:nvPr>
            <p:ph type="sldNum" sz="quarter" idx="5"/>
          </p:nvPr>
        </p:nvSpPr>
        <p:spPr/>
        <p:txBody>
          <a:bodyPr/>
          <a:lstStyle/>
          <a:p>
            <a:fld id="{8311485F-E836-234E-851D-0C8FAFD50945}" type="slidenum">
              <a:rPr lang="en-KR" smtClean="0"/>
              <a:t>16</a:t>
            </a:fld>
            <a:endParaRPr lang="en-KR"/>
          </a:p>
        </p:txBody>
      </p:sp>
    </p:spTree>
    <p:extLst>
      <p:ext uri="{BB962C8B-B14F-4D97-AF65-F5344CB8AC3E}">
        <p14:creationId xmlns:p14="http://schemas.microsoft.com/office/powerpoint/2010/main" val="607551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“To verify whether two face embeddings belong to the same person, we use cosine similarity as the distance metric. It’s one of the most effective similarity measures in face recognition.”</a:t>
            </a:r>
          </a:p>
          <a:p>
            <a:endParaRPr lang="en-KR"/>
          </a:p>
        </p:txBody>
      </p:sp>
      <p:sp>
        <p:nvSpPr>
          <p:cNvPr id="4" name="Slide Number Placeholder 3"/>
          <p:cNvSpPr>
            <a:spLocks noGrp="1"/>
          </p:cNvSpPr>
          <p:nvPr>
            <p:ph type="sldNum" sz="quarter" idx="5"/>
          </p:nvPr>
        </p:nvSpPr>
        <p:spPr/>
        <p:txBody>
          <a:bodyPr/>
          <a:lstStyle/>
          <a:p>
            <a:fld id="{8311485F-E836-234E-851D-0C8FAFD50945}" type="slidenum">
              <a:rPr lang="en-KR" smtClean="0"/>
              <a:t>17</a:t>
            </a:fld>
            <a:endParaRPr lang="en-KR"/>
          </a:p>
        </p:txBody>
      </p:sp>
    </p:spTree>
    <p:extLst>
      <p:ext uri="{BB962C8B-B14F-4D97-AF65-F5344CB8AC3E}">
        <p14:creationId xmlns:p14="http://schemas.microsoft.com/office/powerpoint/2010/main" val="2696764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4/15/25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5271367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C94063-DF36-4330-A365-08DA1FA5B7D6}" type="datetimeFigureOut">
              <a:rPr lang="en-US" dirty="0"/>
              <a:t>4/15/25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325204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4/15/25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6910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CFA4AC-08CC-42CE-BD01-C191750A04EC}" type="datetimeFigureOut">
              <a:rPr lang="en-US" dirty="0"/>
              <a:t>4/15/25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24870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A7A723-92A7-435B-B681-F25B092FEFEB}" type="datetimeFigureOut">
              <a:rPr lang="en-US" dirty="0"/>
              <a:t>4/15/25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428860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170639-886C-4FCF-9EAB-ABB5DA3F3F4A}" type="datetimeFigureOut">
              <a:rPr lang="en-US" dirty="0"/>
              <a:t>4/15/25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599229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4/15/25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008522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4/15/25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673477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a:blipFill>
            <a:blip r:embed="rId2"/>
            <a:stretch>
              <a:fillRect/>
            </a:stretch>
          </a:blip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4/15/25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637828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33E54A-A8CA-48C1-9504-691B58049D29}" type="datetimeFigureOut">
              <a:rPr lang="en-US" dirty="0"/>
              <a:t>4/15/25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601624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F6C806-BBF7-471C-9527-881CE2266695}" type="datetimeFigureOut">
              <a:rPr lang="en-US" dirty="0"/>
              <a:t>4/15/25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462072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4/15/25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26866310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www.correlance.com/cms/en/iso19794-5" TargetMode="External"/><Relationship Id="rId13" Type="http://schemas.openxmlformats.org/officeDocument/2006/relationships/hyperlink" Target="https://mmlab.ie.cuhk.edu.hk/projects/CelebA.html" TargetMode="External"/><Relationship Id="rId3" Type="http://schemas.openxmlformats.org/officeDocument/2006/relationships/hyperlink" Target="https://www.hikvision.com/hk/products/Access-Control-Products/Face-Recognition-Terminals/" TargetMode="External"/><Relationship Id="rId7" Type="http://schemas.openxmlformats.org/officeDocument/2006/relationships/hyperlink" Target="https://hongkongfp.com/2024/12/24/hong-kong-adopts-facial-recognition-tech-at-sha-tau-kok-border-checkpoint" TargetMode="External"/><Relationship Id="rId12" Type="http://schemas.openxmlformats.org/officeDocument/2006/relationships/hyperlink" Target="https://github.com/HuangYG123/CurricularFace" TargetMode="External"/><Relationship Id="rId2" Type="http://schemas.openxmlformats.org/officeDocument/2006/relationships/hyperlink" Target="https://www.youtube.com/watch?v=y-D1tReryGA" TargetMode="External"/><Relationship Id="rId1" Type="http://schemas.openxmlformats.org/officeDocument/2006/relationships/slideLayout" Target="../slideLayouts/slideLayout2.xml"/><Relationship Id="rId6" Type="http://schemas.openxmlformats.org/officeDocument/2006/relationships/hyperlink" Target="https://www.kaggle.com/datasets/jessicali9530/lfw-dataset" TargetMode="External"/><Relationship Id="rId11" Type="http://schemas.openxmlformats.org/officeDocument/2006/relationships/hyperlink" Target="https://www.tsa.gov/news/press/releases/2022/11/18/tsa-introduces-state-art-identity-verification-technology-den" TargetMode="External"/><Relationship Id="rId5" Type="http://schemas.openxmlformats.org/officeDocument/2006/relationships/hyperlink" Target="https://www.modivision.net/wp-content/uploads/2019/08/Requirements.pdf" TargetMode="External"/><Relationship Id="rId10" Type="http://schemas.openxmlformats.org/officeDocument/2006/relationships/hyperlink" Target="http://www.tsa.gov" TargetMode="External"/><Relationship Id="rId4" Type="http://schemas.openxmlformats.org/officeDocument/2006/relationships/hyperlink" Target="https://www.hongkongairport.com/en/passenger-guide/flight-token.page" TargetMode="External"/><Relationship Id="rId9" Type="http://schemas.openxmlformats.org/officeDocument/2006/relationships/hyperlink" Target="https://github.com/deepinsight/insightfa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Visible Face Recognition</a:t>
            </a:r>
          </a:p>
        </p:txBody>
      </p:sp>
      <p:sp>
        <p:nvSpPr>
          <p:cNvPr id="3" name="Subtitle 2"/>
          <p:cNvSpPr>
            <a:spLocks noGrp="1"/>
          </p:cNvSpPr>
          <p:nvPr>
            <p:ph type="subTitle" idx="1"/>
          </p:nvPr>
        </p:nvSpPr>
        <p:spPr/>
        <p:txBody>
          <a:bodyPr vert="horz" lIns="91440" tIns="45720" rIns="91440" bIns="45720" rtlCol="0" anchor="t">
            <a:normAutofit/>
          </a:bodyPr>
          <a:lstStyle/>
          <a:p>
            <a:r>
              <a:rPr lang="en-US">
                <a:ea typeface="+mn-lt"/>
                <a:cs typeface="+mn-lt"/>
              </a:rPr>
              <a:t>HEO </a:t>
            </a:r>
            <a:r>
              <a:rPr lang="en-US" err="1">
                <a:ea typeface="+mn-lt"/>
                <a:cs typeface="+mn-lt"/>
              </a:rPr>
              <a:t>Sunghak</a:t>
            </a:r>
            <a:r>
              <a:rPr lang="en-US">
                <a:ea typeface="+mn-lt"/>
                <a:cs typeface="+mn-lt"/>
              </a:rPr>
              <a:t> 21097305D</a:t>
            </a:r>
          </a:p>
          <a:p>
            <a:r>
              <a:rPr lang="en-US">
                <a:ea typeface="+mn-lt"/>
                <a:cs typeface="+mn-lt"/>
              </a:rPr>
              <a:t>JIA Man Qi Vivian 23033073D</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574BC-A1B5-4CA2-DD54-8651819ADCD8}"/>
              </a:ext>
            </a:extLst>
          </p:cNvPr>
          <p:cNvSpPr>
            <a:spLocks noGrp="1"/>
          </p:cNvSpPr>
          <p:nvPr>
            <p:ph type="title"/>
          </p:nvPr>
        </p:nvSpPr>
        <p:spPr>
          <a:xfrm>
            <a:off x="3253136" y="301061"/>
            <a:ext cx="5681357" cy="807977"/>
          </a:xfrm>
        </p:spPr>
        <p:txBody>
          <a:bodyPr/>
          <a:lstStyle/>
          <a:p>
            <a:pPr algn="ctr"/>
            <a:r>
              <a:rPr lang="en-US"/>
              <a:t>Contents</a:t>
            </a:r>
          </a:p>
        </p:txBody>
      </p:sp>
      <p:sp>
        <p:nvSpPr>
          <p:cNvPr id="3" name="Content Placeholder 2">
            <a:extLst>
              <a:ext uri="{FF2B5EF4-FFF2-40B4-BE49-F238E27FC236}">
                <a16:creationId xmlns:a16="http://schemas.microsoft.com/office/drawing/2014/main" id="{49AB643E-40E9-E0F4-8940-055A97C49D7B}"/>
              </a:ext>
            </a:extLst>
          </p:cNvPr>
          <p:cNvSpPr>
            <a:spLocks noGrp="1"/>
          </p:cNvSpPr>
          <p:nvPr>
            <p:ph idx="1"/>
          </p:nvPr>
        </p:nvSpPr>
        <p:spPr>
          <a:xfrm>
            <a:off x="1793834" y="1253706"/>
            <a:ext cx="8595360" cy="4351337"/>
          </a:xfrm>
        </p:spPr>
        <p:txBody>
          <a:bodyPr vert="horz" lIns="91440" tIns="45720" rIns="91440" bIns="45720" rtlCol="0" anchor="t">
            <a:normAutofit fontScale="92500" lnSpcReduction="20000"/>
          </a:bodyPr>
          <a:lstStyle/>
          <a:p>
            <a:pPr marL="0" indent="0">
              <a:buNone/>
            </a:pPr>
            <a:r>
              <a:rPr lang="en-US" sz="2800" dirty="0"/>
              <a:t>Phase I</a:t>
            </a:r>
          </a:p>
          <a:p>
            <a:pPr marL="457200" indent="-457200">
              <a:buAutoNum type="romanLcPeriod"/>
            </a:pPr>
            <a:r>
              <a:rPr lang="en-US" sz="2000"/>
              <a:t>Visible Face Recognition</a:t>
            </a:r>
          </a:p>
          <a:p>
            <a:pPr marL="457200" indent="-457200">
              <a:buAutoNum type="romanLcPeriod"/>
            </a:pPr>
            <a:r>
              <a:rPr lang="en-US" sz="2000" dirty="0"/>
              <a:t>Examples and Applications</a:t>
            </a:r>
            <a:endParaRPr lang="en-US" dirty="0"/>
          </a:p>
          <a:p>
            <a:pPr marL="457200" indent="-457200">
              <a:buAutoNum type="romanLcPeriod"/>
            </a:pPr>
            <a:r>
              <a:rPr lang="en-US" sz="2000" dirty="0"/>
              <a:t>Publicly Available Databases</a:t>
            </a:r>
          </a:p>
          <a:p>
            <a:pPr marL="457200" indent="-457200">
              <a:buAutoNum type="romanLcPeriod"/>
            </a:pPr>
            <a:r>
              <a:rPr lang="en-US" sz="2000" dirty="0"/>
              <a:t>Acquisition and Standardization</a:t>
            </a:r>
          </a:p>
          <a:p>
            <a:pPr marL="0" indent="0">
              <a:buNone/>
            </a:pPr>
            <a:r>
              <a:rPr lang="en-US" sz="2800" dirty="0"/>
              <a:t>Phase II</a:t>
            </a:r>
          </a:p>
          <a:p>
            <a:pPr marL="457200" indent="-457200">
              <a:buAutoNum type="romanLcPeriod"/>
            </a:pPr>
            <a:r>
              <a:rPr lang="en-US" sz="2000" dirty="0"/>
              <a:t>Background Information for Evaluation</a:t>
            </a:r>
          </a:p>
          <a:p>
            <a:pPr marL="457200" indent="-457200">
              <a:buAutoNum type="romanLcPeriod"/>
            </a:pPr>
            <a:r>
              <a:rPr lang="en-US" sz="2000" dirty="0"/>
              <a:t>Section 1: 200*3 setting</a:t>
            </a:r>
            <a:endParaRPr lang="en-US" dirty="0"/>
          </a:p>
          <a:p>
            <a:pPr marL="457200" indent="-457200">
              <a:buAutoNum type="romanLcPeriod"/>
            </a:pPr>
            <a:r>
              <a:rPr lang="en-US" sz="2000" dirty="0"/>
              <a:t>Section 2: 300*4 setting</a:t>
            </a:r>
          </a:p>
          <a:p>
            <a:pPr marL="457200" indent="-457200">
              <a:buAutoNum type="romanLcPeriod"/>
            </a:pPr>
            <a:r>
              <a:rPr lang="en-US" sz="2000" dirty="0"/>
              <a:t>Limitation and Improvement</a:t>
            </a:r>
          </a:p>
        </p:txBody>
      </p:sp>
    </p:spTree>
    <p:extLst>
      <p:ext uri="{BB962C8B-B14F-4D97-AF65-F5344CB8AC3E}">
        <p14:creationId xmlns:p14="http://schemas.microsoft.com/office/powerpoint/2010/main" val="27687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002D3-31D2-182A-EB5A-793E7D5AD4BC}"/>
              </a:ext>
            </a:extLst>
          </p:cNvPr>
          <p:cNvSpPr>
            <a:spLocks noGrp="1"/>
          </p:cNvSpPr>
          <p:nvPr>
            <p:ph type="ctrTitle"/>
          </p:nvPr>
        </p:nvSpPr>
        <p:spPr/>
        <p:txBody>
          <a:bodyPr/>
          <a:lstStyle/>
          <a:p>
            <a:r>
              <a:rPr lang="en-US"/>
              <a:t>Phase I</a:t>
            </a:r>
          </a:p>
        </p:txBody>
      </p:sp>
      <p:sp>
        <p:nvSpPr>
          <p:cNvPr id="3" name="Subtitle 2">
            <a:extLst>
              <a:ext uri="{FF2B5EF4-FFF2-40B4-BE49-F238E27FC236}">
                <a16:creationId xmlns:a16="http://schemas.microsoft.com/office/drawing/2014/main" id="{B532FC71-4FDB-BE11-D69F-2FD86973C5F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59210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4790-9614-C548-D5AE-2FCA62D7E0D0}"/>
              </a:ext>
            </a:extLst>
          </p:cNvPr>
          <p:cNvSpPr>
            <a:spLocks noGrp="1"/>
          </p:cNvSpPr>
          <p:nvPr>
            <p:ph type="title"/>
          </p:nvPr>
        </p:nvSpPr>
        <p:spPr/>
        <p:txBody>
          <a:bodyPr/>
          <a:lstStyle/>
          <a:p>
            <a:r>
              <a:rPr lang="en-US"/>
              <a:t>Visible Face Recognition</a:t>
            </a:r>
          </a:p>
        </p:txBody>
      </p:sp>
      <p:sp>
        <p:nvSpPr>
          <p:cNvPr id="3" name="Content Placeholder 2">
            <a:extLst>
              <a:ext uri="{FF2B5EF4-FFF2-40B4-BE49-F238E27FC236}">
                <a16:creationId xmlns:a16="http://schemas.microsoft.com/office/drawing/2014/main" id="{B7E7FA86-1DF6-4D86-9F61-0BF60AB829E9}"/>
              </a:ext>
            </a:extLst>
          </p:cNvPr>
          <p:cNvSpPr>
            <a:spLocks noGrp="1"/>
          </p:cNvSpPr>
          <p:nvPr>
            <p:ph idx="1"/>
          </p:nvPr>
        </p:nvSpPr>
        <p:spPr/>
        <p:txBody>
          <a:bodyPr vert="horz" lIns="91440" tIns="45720" rIns="91440" bIns="45720" rtlCol="0" anchor="t">
            <a:normAutofit/>
          </a:bodyPr>
          <a:lstStyle/>
          <a:p>
            <a:r>
              <a:rPr lang="en-US" b="1" dirty="0"/>
              <a:t>Face recognition</a:t>
            </a:r>
            <a:r>
              <a:rPr lang="en-US" dirty="0"/>
              <a:t> is a biometric modality that matches a human face to a digital image or video frame stored in a database.</a:t>
            </a:r>
          </a:p>
          <a:p>
            <a:r>
              <a:rPr lang="en-US" dirty="0"/>
              <a:t>State-of-the-art algorithms: </a:t>
            </a:r>
            <a:r>
              <a:rPr lang="en-US" dirty="0" err="1"/>
              <a:t>ArcFace</a:t>
            </a:r>
            <a:r>
              <a:rPr lang="en-US" dirty="0"/>
              <a:t> and </a:t>
            </a:r>
            <a:r>
              <a:rPr lang="en-US" dirty="0" err="1"/>
              <a:t>CurricularFace</a:t>
            </a:r>
            <a:endParaRPr lang="en-US"/>
          </a:p>
          <a:p>
            <a:r>
              <a:rPr lang="en-US" b="1" dirty="0" err="1"/>
              <a:t>ArcFace</a:t>
            </a:r>
            <a:r>
              <a:rPr lang="en-US" b="1" dirty="0"/>
              <a:t>: Additive Angular Margin Loss</a:t>
            </a:r>
            <a:endParaRPr lang="en-US"/>
          </a:p>
          <a:p>
            <a:pPr lvl="1">
              <a:buFont typeface="Courier New" pitchFamily="34" charset="0"/>
              <a:buChar char="o"/>
            </a:pPr>
            <a:r>
              <a:rPr lang="en-US" spc="10" dirty="0">
                <a:solidFill>
                  <a:srgbClr val="000000"/>
                </a:solidFill>
              </a:rPr>
              <a:t>Extrapolates highly distinctive features from faces using DCNN (Deep Convolutional Neural Networks).</a:t>
            </a:r>
          </a:p>
          <a:p>
            <a:r>
              <a:rPr lang="en-US" b="1" dirty="0" err="1"/>
              <a:t>CurricularFace</a:t>
            </a:r>
            <a:r>
              <a:rPr lang="en-US" b="1" dirty="0"/>
              <a:t>: Adaptive Curriculum Learning Loss</a:t>
            </a:r>
          </a:p>
          <a:p>
            <a:pPr lvl="1">
              <a:buFont typeface="Courier New" pitchFamily="34" charset="0"/>
              <a:buChar char="o"/>
            </a:pPr>
            <a:r>
              <a:rPr lang="en-US" spc="10" dirty="0">
                <a:solidFill>
                  <a:srgbClr val="000000"/>
                </a:solidFill>
              </a:rPr>
              <a:t>Adapts a </a:t>
            </a:r>
            <a:r>
              <a:rPr lang="en-US" spc="10" dirty="0">
                <a:solidFill>
                  <a:srgbClr val="000000"/>
                </a:solidFill>
                <a:ea typeface="+mn-lt"/>
                <a:cs typeface="+mn-lt"/>
              </a:rPr>
              <a:t>curricular learning process in its loss functions, with emphasis on simple and hard samples, to address the issue of such samples during the early training stage that may lead to convergence.</a:t>
            </a:r>
          </a:p>
        </p:txBody>
      </p:sp>
    </p:spTree>
    <p:extLst>
      <p:ext uri="{BB962C8B-B14F-4D97-AF65-F5344CB8AC3E}">
        <p14:creationId xmlns:p14="http://schemas.microsoft.com/office/powerpoint/2010/main" val="1005400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70F89-A6D8-5E5F-E8B8-8D26F13E08E1}"/>
              </a:ext>
            </a:extLst>
          </p:cNvPr>
          <p:cNvSpPr>
            <a:spLocks noGrp="1"/>
          </p:cNvSpPr>
          <p:nvPr>
            <p:ph type="title"/>
          </p:nvPr>
        </p:nvSpPr>
        <p:spPr>
          <a:xfrm>
            <a:off x="2545602" y="262786"/>
            <a:ext cx="7097722" cy="817563"/>
          </a:xfrm>
        </p:spPr>
        <p:txBody>
          <a:bodyPr/>
          <a:lstStyle/>
          <a:p>
            <a:pPr algn="ctr"/>
            <a:r>
              <a:rPr lang="en-US" dirty="0"/>
              <a:t>Examples and Applications</a:t>
            </a:r>
          </a:p>
        </p:txBody>
      </p:sp>
      <p:pic>
        <p:nvPicPr>
          <p:cNvPr id="5" name="Content Placeholder 4" descr="Step 03">
            <a:extLst>
              <a:ext uri="{FF2B5EF4-FFF2-40B4-BE49-F238E27FC236}">
                <a16:creationId xmlns:a16="http://schemas.microsoft.com/office/drawing/2014/main" id="{CBCE6CC3-B632-9841-8D1F-B58F37E99292}"/>
              </a:ext>
            </a:extLst>
          </p:cNvPr>
          <p:cNvPicPr>
            <a:picLocks noGrp="1" noChangeAspect="1"/>
          </p:cNvPicPr>
          <p:nvPr>
            <p:ph idx="1"/>
          </p:nvPr>
        </p:nvPicPr>
        <p:blipFill>
          <a:blip r:embed="rId2"/>
          <a:stretch>
            <a:fillRect/>
          </a:stretch>
        </p:blipFill>
        <p:spPr>
          <a:xfrm>
            <a:off x="1340461" y="1547297"/>
            <a:ext cx="3412954" cy="2532192"/>
          </a:xfrm>
        </p:spPr>
      </p:pic>
      <p:pic>
        <p:nvPicPr>
          <p:cNvPr id="6" name="Picture 5" descr="A screens on the ceiling&#10;&#10;AI-generated content may be incorrect.">
            <a:extLst>
              <a:ext uri="{FF2B5EF4-FFF2-40B4-BE49-F238E27FC236}">
                <a16:creationId xmlns:a16="http://schemas.microsoft.com/office/drawing/2014/main" id="{9E5E0B06-2572-F14D-A005-F542A7778F47}"/>
              </a:ext>
            </a:extLst>
          </p:cNvPr>
          <p:cNvPicPr>
            <a:picLocks noChangeAspect="1"/>
          </p:cNvPicPr>
          <p:nvPr/>
        </p:nvPicPr>
        <p:blipFill>
          <a:blip r:embed="rId3"/>
          <a:stretch>
            <a:fillRect/>
          </a:stretch>
        </p:blipFill>
        <p:spPr>
          <a:xfrm>
            <a:off x="6906273" y="1548138"/>
            <a:ext cx="3767803" cy="2536036"/>
          </a:xfrm>
          <a:prstGeom prst="rect">
            <a:avLst/>
          </a:prstGeom>
        </p:spPr>
      </p:pic>
      <p:sp>
        <p:nvSpPr>
          <p:cNvPr id="9" name="Content Placeholder 2">
            <a:extLst>
              <a:ext uri="{FF2B5EF4-FFF2-40B4-BE49-F238E27FC236}">
                <a16:creationId xmlns:a16="http://schemas.microsoft.com/office/drawing/2014/main" id="{8A596A7B-8A91-4C7E-2F8F-CBDB28841EEA}"/>
              </a:ext>
            </a:extLst>
          </p:cNvPr>
          <p:cNvSpPr txBox="1">
            <a:spLocks/>
          </p:cNvSpPr>
          <p:nvPr/>
        </p:nvSpPr>
        <p:spPr>
          <a:xfrm>
            <a:off x="513261" y="4366646"/>
            <a:ext cx="5069882" cy="2297946"/>
          </a:xfrm>
          <a:prstGeom prst="rect">
            <a:avLst/>
          </a:prstGeom>
        </p:spPr>
        <p:txBody>
          <a:bodyPr vert="horz" lIns="91440" tIns="45720" rIns="91440" bIns="45720" rtlCol="0" anchor="t">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a:t>Hong Kong International Airport: </a:t>
            </a:r>
            <a:r>
              <a:rPr lang="en-US" dirty="0" err="1"/>
              <a:t>FlightToken</a:t>
            </a:r>
            <a:r>
              <a:rPr lang="en-US" dirty="0"/>
              <a:t>, is a self-service face recognition biometric system that integrates multiple passenger checkpoints.</a:t>
            </a:r>
          </a:p>
          <a:p>
            <a:pPr lvl="1">
              <a:buFont typeface="Courier New" pitchFamily="34" charset="0"/>
              <a:buChar char="o"/>
            </a:pPr>
            <a:r>
              <a:rPr lang="en-US" spc="10" dirty="0">
                <a:solidFill>
                  <a:srgbClr val="000000"/>
                </a:solidFill>
              </a:rPr>
              <a:t>Smart check-in kiosks</a:t>
            </a:r>
          </a:p>
          <a:p>
            <a:pPr lvl="1">
              <a:buFont typeface="Courier New" pitchFamily="34" charset="0"/>
              <a:buChar char="o"/>
            </a:pPr>
            <a:r>
              <a:rPr lang="en-US" spc="10" dirty="0">
                <a:solidFill>
                  <a:srgbClr val="000000"/>
                </a:solidFill>
              </a:rPr>
              <a:t>Baggage drop</a:t>
            </a:r>
          </a:p>
          <a:p>
            <a:pPr lvl="1">
              <a:buFont typeface="Courier New" pitchFamily="34" charset="0"/>
              <a:buChar char="o"/>
            </a:pPr>
            <a:r>
              <a:rPr lang="en-US" spc="10" dirty="0">
                <a:solidFill>
                  <a:srgbClr val="000000"/>
                </a:solidFill>
              </a:rPr>
              <a:t>E-channels for security and boarding</a:t>
            </a:r>
          </a:p>
        </p:txBody>
      </p:sp>
      <p:sp>
        <p:nvSpPr>
          <p:cNvPr id="10" name="Content Placeholder 2">
            <a:extLst>
              <a:ext uri="{FF2B5EF4-FFF2-40B4-BE49-F238E27FC236}">
                <a16:creationId xmlns:a16="http://schemas.microsoft.com/office/drawing/2014/main" id="{5515A5E0-4787-1AFE-F273-6A0ADA73AAF0}"/>
              </a:ext>
            </a:extLst>
          </p:cNvPr>
          <p:cNvSpPr txBox="1">
            <a:spLocks/>
          </p:cNvSpPr>
          <p:nvPr/>
        </p:nvSpPr>
        <p:spPr>
          <a:xfrm>
            <a:off x="6094395" y="4369822"/>
            <a:ext cx="5068748" cy="2304075"/>
          </a:xfrm>
          <a:prstGeom prst="rect">
            <a:avLst/>
          </a:prstGeom>
        </p:spPr>
        <p:txBody>
          <a:bodyPr vert="horz" lIns="91440" tIns="45720" rIns="91440" bIns="45720" rtlCol="0" anchor="t">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a:ea typeface="+mn-lt"/>
                <a:cs typeface="+mn-lt"/>
              </a:rPr>
              <a:t>Shau Tau Kok border checkpoint towards the mainland: Face recognition has been implemented with consent, realizing a contactless experience.</a:t>
            </a:r>
            <a:endParaRPr lang="en-US" dirty="0" err="1">
              <a:ea typeface="+mn-lt"/>
              <a:cs typeface="+mn-lt"/>
            </a:endParaRPr>
          </a:p>
        </p:txBody>
      </p:sp>
    </p:spTree>
    <p:extLst>
      <p:ext uri="{BB962C8B-B14F-4D97-AF65-F5344CB8AC3E}">
        <p14:creationId xmlns:p14="http://schemas.microsoft.com/office/powerpoint/2010/main" val="259877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5713-B636-403D-6393-62452FBA4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3F67F-40DF-BEAB-9CC0-238F279E9A0D}"/>
              </a:ext>
            </a:extLst>
          </p:cNvPr>
          <p:cNvSpPr>
            <a:spLocks noGrp="1"/>
          </p:cNvSpPr>
          <p:nvPr>
            <p:ph type="title"/>
          </p:nvPr>
        </p:nvSpPr>
        <p:spPr>
          <a:xfrm>
            <a:off x="2545602" y="262786"/>
            <a:ext cx="7097722" cy="817563"/>
          </a:xfrm>
        </p:spPr>
        <p:txBody>
          <a:bodyPr/>
          <a:lstStyle/>
          <a:p>
            <a:pPr algn="ctr"/>
            <a:r>
              <a:rPr lang="en-US" dirty="0"/>
              <a:t>Examples and Applications</a:t>
            </a:r>
          </a:p>
        </p:txBody>
      </p:sp>
      <p:pic>
        <p:nvPicPr>
          <p:cNvPr id="5" name="Picture 4" descr="A collage of a person&amp;#39;s face&#10;&#10;AI-generated content may be incorrect.">
            <a:extLst>
              <a:ext uri="{FF2B5EF4-FFF2-40B4-BE49-F238E27FC236}">
                <a16:creationId xmlns:a16="http://schemas.microsoft.com/office/drawing/2014/main" id="{171CFC4C-D71C-00BC-9143-D9398EB762A8}"/>
              </a:ext>
            </a:extLst>
          </p:cNvPr>
          <p:cNvPicPr>
            <a:picLocks noChangeAspect="1"/>
          </p:cNvPicPr>
          <p:nvPr/>
        </p:nvPicPr>
        <p:blipFill>
          <a:blip r:embed="rId2"/>
          <a:stretch>
            <a:fillRect/>
          </a:stretch>
        </p:blipFill>
        <p:spPr>
          <a:xfrm>
            <a:off x="433076" y="1644940"/>
            <a:ext cx="5663144" cy="3809888"/>
          </a:xfrm>
          <a:prstGeom prst="rect">
            <a:avLst/>
          </a:prstGeom>
        </p:spPr>
      </p:pic>
      <p:sp>
        <p:nvSpPr>
          <p:cNvPr id="7" name="Content Placeholder 2">
            <a:extLst>
              <a:ext uri="{FF2B5EF4-FFF2-40B4-BE49-F238E27FC236}">
                <a16:creationId xmlns:a16="http://schemas.microsoft.com/office/drawing/2014/main" id="{97BB1934-B057-7397-23DC-E27C0B1CD134}"/>
              </a:ext>
            </a:extLst>
          </p:cNvPr>
          <p:cNvSpPr txBox="1">
            <a:spLocks/>
          </p:cNvSpPr>
          <p:nvPr/>
        </p:nvSpPr>
        <p:spPr>
          <a:xfrm>
            <a:off x="6379656" y="1908910"/>
            <a:ext cx="4648856" cy="3286486"/>
          </a:xfrm>
          <a:prstGeom prst="rect">
            <a:avLst/>
          </a:prstGeom>
        </p:spPr>
        <p:txBody>
          <a:bodyPr vert="horz" lIns="91440" tIns="45720" rIns="91440" bIns="45720" rtlCol="0" anchor="t">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a:t>Forensic face recognition (FFR) is frequently applied to survey and investigate crime scenes and footage , with a significant advantage due to the ability to analyze large volumes of footage. </a:t>
            </a:r>
            <a:endParaRPr lang="en-US"/>
          </a:p>
          <a:p>
            <a:r>
              <a:rPr lang="en-US" dirty="0"/>
              <a:t>Also used in the  identification of suspects, victims and repeat offenders, as well as aid in the search for missing persons or provide insights into cold cases.</a:t>
            </a:r>
            <a:endParaRPr lang="en-US"/>
          </a:p>
        </p:txBody>
      </p:sp>
    </p:spTree>
    <p:extLst>
      <p:ext uri="{BB962C8B-B14F-4D97-AF65-F5344CB8AC3E}">
        <p14:creationId xmlns:p14="http://schemas.microsoft.com/office/powerpoint/2010/main" val="823556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7EE6E-579C-89E5-EC6F-73F64F9BF452}"/>
              </a:ext>
            </a:extLst>
          </p:cNvPr>
          <p:cNvSpPr>
            <a:spLocks noGrp="1"/>
          </p:cNvSpPr>
          <p:nvPr>
            <p:ph type="title"/>
          </p:nvPr>
        </p:nvSpPr>
        <p:spPr>
          <a:xfrm>
            <a:off x="2382012" y="289560"/>
            <a:ext cx="7429500" cy="685482"/>
          </a:xfrm>
        </p:spPr>
        <p:txBody>
          <a:bodyPr>
            <a:normAutofit fontScale="90000"/>
          </a:bodyPr>
          <a:lstStyle/>
          <a:p>
            <a:pPr algn="ctr"/>
            <a:r>
              <a:rPr lang="en-US"/>
              <a:t>Publicly available databases</a:t>
            </a:r>
          </a:p>
        </p:txBody>
      </p:sp>
      <p:sp>
        <p:nvSpPr>
          <p:cNvPr id="3" name="Content Placeholder 2">
            <a:extLst>
              <a:ext uri="{FF2B5EF4-FFF2-40B4-BE49-F238E27FC236}">
                <a16:creationId xmlns:a16="http://schemas.microsoft.com/office/drawing/2014/main" id="{8C1B5BDC-2488-435A-D90C-A026F628B7A6}"/>
              </a:ext>
            </a:extLst>
          </p:cNvPr>
          <p:cNvSpPr>
            <a:spLocks noGrp="1"/>
          </p:cNvSpPr>
          <p:nvPr>
            <p:ph idx="1"/>
          </p:nvPr>
        </p:nvSpPr>
        <p:spPr>
          <a:xfrm>
            <a:off x="541061" y="1087395"/>
            <a:ext cx="10469467" cy="664905"/>
          </a:xfrm>
        </p:spPr>
        <p:txBody>
          <a:bodyPr vert="horz" lIns="91440" tIns="45720" rIns="91440" bIns="45720" rtlCol="0" anchor="t">
            <a:normAutofit/>
          </a:bodyPr>
          <a:lstStyle/>
          <a:p>
            <a:r>
              <a:rPr lang="en-US" dirty="0"/>
              <a:t>There are many publicly available databases, including </a:t>
            </a:r>
            <a:r>
              <a:rPr lang="en-US" dirty="0" err="1"/>
              <a:t>CelebA</a:t>
            </a:r>
            <a:r>
              <a:rPr lang="en-US" dirty="0"/>
              <a:t>, </a:t>
            </a:r>
            <a:r>
              <a:rPr lang="en-US" dirty="0" err="1"/>
              <a:t>MegaFace</a:t>
            </a:r>
            <a:r>
              <a:rPr lang="en-US" dirty="0"/>
              <a:t>, LFW (Labeled Faces in the Wild), CASIA-</a:t>
            </a:r>
            <a:r>
              <a:rPr lang="en-US" dirty="0" err="1"/>
              <a:t>WebFace</a:t>
            </a:r>
            <a:r>
              <a:rPr lang="en-US" dirty="0"/>
              <a:t>, and more.</a:t>
            </a:r>
          </a:p>
        </p:txBody>
      </p:sp>
      <p:pic>
        <p:nvPicPr>
          <p:cNvPr id="4" name="Picture 3" descr="A collage of a group of people&#10;&#10;AI-generated content may be incorrect.">
            <a:extLst>
              <a:ext uri="{FF2B5EF4-FFF2-40B4-BE49-F238E27FC236}">
                <a16:creationId xmlns:a16="http://schemas.microsoft.com/office/drawing/2014/main" id="{8462340D-9860-F19C-EA2C-155ACB84BBD2}"/>
              </a:ext>
            </a:extLst>
          </p:cNvPr>
          <p:cNvPicPr>
            <a:picLocks noChangeAspect="1"/>
          </p:cNvPicPr>
          <p:nvPr/>
        </p:nvPicPr>
        <p:blipFill>
          <a:blip r:embed="rId2"/>
          <a:stretch>
            <a:fillRect/>
          </a:stretch>
        </p:blipFill>
        <p:spPr>
          <a:xfrm>
            <a:off x="993608" y="1865527"/>
            <a:ext cx="3920896" cy="2712927"/>
          </a:xfrm>
          <a:prstGeom prst="rect">
            <a:avLst/>
          </a:prstGeom>
        </p:spPr>
      </p:pic>
      <p:pic>
        <p:nvPicPr>
          <p:cNvPr id="5" name="Picture 4" descr="MegaFace facial recognition dataset origin raises privacy and liability  concerns | Biometric Update">
            <a:extLst>
              <a:ext uri="{FF2B5EF4-FFF2-40B4-BE49-F238E27FC236}">
                <a16:creationId xmlns:a16="http://schemas.microsoft.com/office/drawing/2014/main" id="{EA9F3E01-7EBC-25A4-FD4B-1541503DEF1F}"/>
              </a:ext>
            </a:extLst>
          </p:cNvPr>
          <p:cNvPicPr>
            <a:picLocks noChangeAspect="1"/>
          </p:cNvPicPr>
          <p:nvPr/>
        </p:nvPicPr>
        <p:blipFill>
          <a:blip r:embed="rId3"/>
          <a:stretch>
            <a:fillRect/>
          </a:stretch>
        </p:blipFill>
        <p:spPr>
          <a:xfrm>
            <a:off x="6733678" y="1868517"/>
            <a:ext cx="3662063" cy="2606516"/>
          </a:xfrm>
          <a:prstGeom prst="rect">
            <a:avLst/>
          </a:prstGeom>
        </p:spPr>
      </p:pic>
      <p:sp>
        <p:nvSpPr>
          <p:cNvPr id="7" name="Content Placeholder 2">
            <a:extLst>
              <a:ext uri="{FF2B5EF4-FFF2-40B4-BE49-F238E27FC236}">
                <a16:creationId xmlns:a16="http://schemas.microsoft.com/office/drawing/2014/main" id="{DF4FD996-90E3-CD37-25AE-880FF6639B10}"/>
              </a:ext>
            </a:extLst>
          </p:cNvPr>
          <p:cNvSpPr txBox="1">
            <a:spLocks/>
          </p:cNvSpPr>
          <p:nvPr/>
        </p:nvSpPr>
        <p:spPr>
          <a:xfrm>
            <a:off x="135693" y="4579457"/>
            <a:ext cx="5378801" cy="2133188"/>
          </a:xfrm>
          <a:prstGeom prst="rect">
            <a:avLst/>
          </a:prstGeom>
        </p:spPr>
        <p:txBody>
          <a:bodyPr vert="horz" lIns="91440" tIns="45720" rIns="91440" bIns="45720" rtlCol="0" anchor="t">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err="1"/>
              <a:t>CelebA</a:t>
            </a:r>
            <a:r>
              <a:rPr lang="en-US" dirty="0"/>
              <a:t> (Large Scale </a:t>
            </a:r>
            <a:r>
              <a:rPr lang="en-US" dirty="0" err="1"/>
              <a:t>CelebFaces</a:t>
            </a:r>
            <a:r>
              <a:rPr lang="en-US" dirty="0"/>
              <a:t> Attribute Dataset)</a:t>
            </a:r>
          </a:p>
          <a:p>
            <a:pPr lvl="1">
              <a:buFont typeface="Courier New" pitchFamily="34" charset="0"/>
              <a:buChar char="o"/>
            </a:pPr>
            <a:r>
              <a:rPr lang="en-US" spc="10" dirty="0">
                <a:solidFill>
                  <a:srgbClr val="000000"/>
                </a:solidFill>
              </a:rPr>
              <a:t>Includes over 200,000 celebrity images</a:t>
            </a:r>
          </a:p>
          <a:p>
            <a:pPr lvl="1">
              <a:buFont typeface="Courier New" pitchFamily="34" charset="0"/>
              <a:buChar char="o"/>
            </a:pPr>
            <a:r>
              <a:rPr lang="en-US" spc="10" dirty="0">
                <a:solidFill>
                  <a:srgbClr val="000000"/>
                </a:solidFill>
              </a:rPr>
              <a:t>Each has 40 attribute landmarks</a:t>
            </a:r>
          </a:p>
          <a:p>
            <a:pPr lvl="1">
              <a:buFont typeface="Courier New" pitchFamily="34" charset="0"/>
              <a:buChar char="o"/>
            </a:pPr>
            <a:r>
              <a:rPr lang="en-US" spc="10" dirty="0">
                <a:solidFill>
                  <a:srgbClr val="000000"/>
                </a:solidFill>
              </a:rPr>
              <a:t>10,000+ celebrity identities</a:t>
            </a:r>
          </a:p>
          <a:p>
            <a:pPr lvl="1">
              <a:buFont typeface="Courier New" pitchFamily="34" charset="0"/>
              <a:buChar char="o"/>
            </a:pPr>
            <a:r>
              <a:rPr lang="en-US" spc="10" dirty="0">
                <a:solidFill>
                  <a:srgbClr val="000000"/>
                </a:solidFill>
              </a:rPr>
              <a:t>Annotations and scale make it a good database for evaluation</a:t>
            </a:r>
          </a:p>
        </p:txBody>
      </p:sp>
      <p:sp>
        <p:nvSpPr>
          <p:cNvPr id="8" name="Content Placeholder 2">
            <a:extLst>
              <a:ext uri="{FF2B5EF4-FFF2-40B4-BE49-F238E27FC236}">
                <a16:creationId xmlns:a16="http://schemas.microsoft.com/office/drawing/2014/main" id="{A58456E1-449C-3F8B-E56F-70B2B4BE2EE4}"/>
              </a:ext>
            </a:extLst>
          </p:cNvPr>
          <p:cNvSpPr txBox="1">
            <a:spLocks/>
          </p:cNvSpPr>
          <p:nvPr/>
        </p:nvSpPr>
        <p:spPr>
          <a:xfrm>
            <a:off x="5490288" y="4579457"/>
            <a:ext cx="5831882" cy="2133188"/>
          </a:xfrm>
          <a:prstGeom prst="rect">
            <a:avLst/>
          </a:prstGeom>
        </p:spPr>
        <p:txBody>
          <a:bodyPr vert="horz" lIns="91440" tIns="45720" rIns="91440" bIns="45720" rtlCol="0" anchor="t">
            <a:normAutofit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err="1"/>
              <a:t>MegaFace</a:t>
            </a:r>
            <a:r>
              <a:rPr lang="en-US" dirty="0"/>
              <a:t> </a:t>
            </a:r>
            <a:r>
              <a:rPr lang="en-US" dirty="0">
                <a:ea typeface="+mn-lt"/>
                <a:cs typeface="+mn-lt"/>
              </a:rPr>
              <a:t>is a large-scale database made to encourage facial recognition development.</a:t>
            </a:r>
          </a:p>
          <a:p>
            <a:pPr lvl="1">
              <a:buFont typeface="Courier New" pitchFamily="34" charset="0"/>
              <a:buChar char="o"/>
            </a:pPr>
            <a:r>
              <a:rPr lang="en-US" spc="10" dirty="0">
                <a:solidFill>
                  <a:srgbClr val="000000"/>
                </a:solidFill>
                <a:ea typeface="+mn-lt"/>
                <a:cs typeface="+mn-lt"/>
              </a:rPr>
              <a:t>Over</a:t>
            </a:r>
            <a:r>
              <a:rPr lang="en-US" spc="10" dirty="0">
                <a:solidFill>
                  <a:srgbClr val="000000"/>
                </a:solidFill>
              </a:rPr>
              <a:t> 4 million images</a:t>
            </a:r>
            <a:endParaRPr lang="en-US" spc="10">
              <a:solidFill>
                <a:srgbClr val="000000"/>
              </a:solidFill>
            </a:endParaRPr>
          </a:p>
          <a:p>
            <a:pPr lvl="1">
              <a:buFont typeface="Courier New" pitchFamily="34" charset="0"/>
              <a:buChar char="o"/>
            </a:pPr>
            <a:r>
              <a:rPr lang="en-US" spc="10" dirty="0">
                <a:solidFill>
                  <a:srgbClr val="000000"/>
                </a:solidFill>
              </a:rPr>
              <a:t>670,000 unique identities from the web</a:t>
            </a:r>
          </a:p>
          <a:p>
            <a:pPr lvl="1">
              <a:buFont typeface="Courier New" pitchFamily="34" charset="0"/>
              <a:buChar char="o"/>
            </a:pPr>
            <a:r>
              <a:rPr lang="en-US" spc="10" dirty="0">
                <a:solidFill>
                  <a:srgbClr val="000000"/>
                </a:solidFill>
              </a:rPr>
              <a:t>Distractor set with one million photos and 690,000 identities, for evaluation and testing</a:t>
            </a:r>
          </a:p>
          <a:p>
            <a:pPr lvl="1">
              <a:buFont typeface="Courier New" pitchFamily="34" charset="0"/>
              <a:buChar char="o"/>
            </a:pPr>
            <a:r>
              <a:rPr lang="en-US" spc="10" dirty="0">
                <a:solidFill>
                  <a:srgbClr val="000000"/>
                </a:solidFill>
              </a:rPr>
              <a:t>Currently decommissioned due to administration and privacy concerns</a:t>
            </a:r>
          </a:p>
        </p:txBody>
      </p:sp>
    </p:spTree>
    <p:extLst>
      <p:ext uri="{BB962C8B-B14F-4D97-AF65-F5344CB8AC3E}">
        <p14:creationId xmlns:p14="http://schemas.microsoft.com/office/powerpoint/2010/main" val="308537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04F48-EC20-FB9A-D72D-75926E5B0D41}"/>
              </a:ext>
            </a:extLst>
          </p:cNvPr>
          <p:cNvSpPr>
            <a:spLocks noGrp="1"/>
          </p:cNvSpPr>
          <p:nvPr>
            <p:ph type="title"/>
          </p:nvPr>
        </p:nvSpPr>
        <p:spPr/>
        <p:txBody>
          <a:bodyPr/>
          <a:lstStyle/>
          <a:p>
            <a:r>
              <a:rPr lang="en-US"/>
              <a:t>Standardization</a:t>
            </a:r>
          </a:p>
        </p:txBody>
      </p:sp>
      <p:sp>
        <p:nvSpPr>
          <p:cNvPr id="3" name="Content Placeholder 2">
            <a:extLst>
              <a:ext uri="{FF2B5EF4-FFF2-40B4-BE49-F238E27FC236}">
                <a16:creationId xmlns:a16="http://schemas.microsoft.com/office/drawing/2014/main" id="{F99F437F-0990-D2AC-47A4-57DEB5F59DD3}"/>
              </a:ext>
            </a:extLst>
          </p:cNvPr>
          <p:cNvSpPr>
            <a:spLocks noGrp="1"/>
          </p:cNvSpPr>
          <p:nvPr>
            <p:ph idx="1"/>
          </p:nvPr>
        </p:nvSpPr>
        <p:spPr>
          <a:xfrm>
            <a:off x="1261872" y="1828800"/>
            <a:ext cx="8595360" cy="1811337"/>
          </a:xfrm>
        </p:spPr>
        <p:txBody>
          <a:bodyPr vert="horz" lIns="91440" tIns="45720" rIns="91440" bIns="45720" rtlCol="0" anchor="t">
            <a:normAutofit/>
          </a:bodyPr>
          <a:lstStyle/>
          <a:p>
            <a:r>
              <a:rPr lang="en-US" dirty="0"/>
              <a:t>Facial recognition has many standardizations due to the versatility of the biometric – it can be applied in various devices, but there must be a common standard to adhere to.</a:t>
            </a:r>
          </a:p>
          <a:p>
            <a:r>
              <a:rPr lang="en-US" dirty="0" err="1">
                <a:latin typeface="Century Schoolbook"/>
                <a:cs typeface="Times New Roman"/>
              </a:rPr>
              <a:t>HikVision</a:t>
            </a:r>
            <a:r>
              <a:rPr lang="en-US" dirty="0">
                <a:latin typeface="Century Schoolbook"/>
                <a:cs typeface="Times New Roman"/>
              </a:rPr>
              <a:t> </a:t>
            </a:r>
            <a:r>
              <a:rPr lang="en-US" dirty="0">
                <a:ea typeface="+mn-lt"/>
                <a:cs typeface="+mn-lt"/>
              </a:rPr>
              <a:t>is a company that sells face recognition terminals with a touch-free, contactless experience for higher security and more convenience.</a:t>
            </a:r>
            <a:endParaRPr lang="en-US" dirty="0">
              <a:latin typeface="Century Schoolbook"/>
            </a:endParaRPr>
          </a:p>
          <a:p>
            <a:endParaRPr lang="en-US" dirty="0"/>
          </a:p>
        </p:txBody>
      </p:sp>
      <p:pic>
        <p:nvPicPr>
          <p:cNvPr id="4" name="Picture 3" descr="A close-up of a device&#10;&#10;AI-generated content may be incorrect.">
            <a:extLst>
              <a:ext uri="{FF2B5EF4-FFF2-40B4-BE49-F238E27FC236}">
                <a16:creationId xmlns:a16="http://schemas.microsoft.com/office/drawing/2014/main" id="{151BB90E-05F7-1F2B-4C70-A0C8FFD55D07}"/>
              </a:ext>
            </a:extLst>
          </p:cNvPr>
          <p:cNvPicPr>
            <a:picLocks noChangeAspect="1"/>
          </p:cNvPicPr>
          <p:nvPr/>
        </p:nvPicPr>
        <p:blipFill>
          <a:blip r:embed="rId2"/>
          <a:srcRect l="14769" b="262"/>
          <a:stretch/>
        </p:blipFill>
        <p:spPr>
          <a:xfrm>
            <a:off x="416217" y="3641307"/>
            <a:ext cx="6332223" cy="2891197"/>
          </a:xfrm>
          <a:prstGeom prst="rect">
            <a:avLst/>
          </a:prstGeom>
        </p:spPr>
      </p:pic>
      <p:sp>
        <p:nvSpPr>
          <p:cNvPr id="6" name="Content Placeholder 2">
            <a:extLst>
              <a:ext uri="{FF2B5EF4-FFF2-40B4-BE49-F238E27FC236}">
                <a16:creationId xmlns:a16="http://schemas.microsoft.com/office/drawing/2014/main" id="{A4063CEE-0887-2EE5-3A77-5A4B56A8AC00}"/>
              </a:ext>
            </a:extLst>
          </p:cNvPr>
          <p:cNvSpPr txBox="1">
            <a:spLocks/>
          </p:cNvSpPr>
          <p:nvPr/>
        </p:nvSpPr>
        <p:spPr>
          <a:xfrm>
            <a:off x="6967947" y="4095578"/>
            <a:ext cx="3989036" cy="1989824"/>
          </a:xfrm>
          <a:prstGeom prst="rect">
            <a:avLst/>
          </a:prstGeom>
        </p:spPr>
        <p:txBody>
          <a:bodyPr vert="horz" lIns="91440" tIns="45720" rIns="91440" bIns="45720" rtlCol="0" anchor="t">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a:t>Has to integrate many important functions such as anti-spoofing, data protection and encryption</a:t>
            </a:r>
          </a:p>
          <a:p>
            <a:r>
              <a:rPr lang="en-US" dirty="0"/>
              <a:t>Extensive versatility and function within a single device is preferred for easy access</a:t>
            </a:r>
          </a:p>
        </p:txBody>
      </p:sp>
    </p:spTree>
    <p:extLst>
      <p:ext uri="{BB962C8B-B14F-4D97-AF65-F5344CB8AC3E}">
        <p14:creationId xmlns:p14="http://schemas.microsoft.com/office/powerpoint/2010/main" val="2416038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80F9E-91C8-98DE-057C-4012BD1D1D21}"/>
              </a:ext>
            </a:extLst>
          </p:cNvPr>
          <p:cNvSpPr>
            <a:spLocks noGrp="1"/>
          </p:cNvSpPr>
          <p:nvPr>
            <p:ph type="title"/>
          </p:nvPr>
        </p:nvSpPr>
        <p:spPr/>
        <p:txBody>
          <a:bodyPr/>
          <a:lstStyle/>
          <a:p>
            <a:r>
              <a:rPr lang="en-US" dirty="0"/>
              <a:t>Acquisition</a:t>
            </a:r>
          </a:p>
        </p:txBody>
      </p:sp>
      <p:sp>
        <p:nvSpPr>
          <p:cNvPr id="3" name="Content Placeholder 2">
            <a:extLst>
              <a:ext uri="{FF2B5EF4-FFF2-40B4-BE49-F238E27FC236}">
                <a16:creationId xmlns:a16="http://schemas.microsoft.com/office/drawing/2014/main" id="{2F7C360D-719B-12F0-B644-C9FC56B6DA51}"/>
              </a:ext>
            </a:extLst>
          </p:cNvPr>
          <p:cNvSpPr>
            <a:spLocks noGrp="1"/>
          </p:cNvSpPr>
          <p:nvPr>
            <p:ph idx="1"/>
          </p:nvPr>
        </p:nvSpPr>
        <p:spPr>
          <a:xfrm>
            <a:off x="515112" y="1844040"/>
            <a:ext cx="6172200" cy="4770093"/>
          </a:xfrm>
        </p:spPr>
        <p:txBody>
          <a:bodyPr vert="horz" lIns="91440" tIns="45720" rIns="91440" bIns="45720" rtlCol="0" anchor="t">
            <a:normAutofit/>
          </a:bodyPr>
          <a:lstStyle/>
          <a:p>
            <a:r>
              <a:rPr lang="en-US" dirty="0" err="1"/>
              <a:t>Modivision</a:t>
            </a:r>
            <a:r>
              <a:rPr lang="en-US" dirty="0"/>
              <a:t>, another company, designates some requirements for perfect face recognition environments. </a:t>
            </a:r>
          </a:p>
          <a:p>
            <a:pPr lvl="1">
              <a:buFont typeface="Courier New" pitchFamily="34" charset="0"/>
              <a:buChar char="o"/>
            </a:pPr>
            <a:r>
              <a:rPr lang="en-US" b="1" spc="10" dirty="0">
                <a:solidFill>
                  <a:srgbClr val="000000"/>
                </a:solidFill>
              </a:rPr>
              <a:t>Distance</a:t>
            </a:r>
            <a:r>
              <a:rPr lang="en-US" spc="10" dirty="0">
                <a:solidFill>
                  <a:srgbClr val="000000"/>
                </a:solidFill>
              </a:rPr>
              <a:t>: A limited distance means there needs to be implementations such as a tilting camera to encompass all possible heights.</a:t>
            </a:r>
          </a:p>
          <a:p>
            <a:pPr lvl="1">
              <a:buFont typeface="Courier New" pitchFamily="34" charset="0"/>
              <a:buChar char="o"/>
            </a:pPr>
            <a:r>
              <a:rPr lang="en-US" b="1" spc="10" dirty="0">
                <a:solidFill>
                  <a:srgbClr val="000000"/>
                </a:solidFill>
              </a:rPr>
              <a:t>Environment</a:t>
            </a:r>
            <a:r>
              <a:rPr lang="en-US" spc="10" dirty="0">
                <a:solidFill>
                  <a:srgbClr val="000000"/>
                </a:solidFill>
              </a:rPr>
              <a:t>: Facial recognition kiosks may be in dark or badly illuminated places, so there is a need for focused light.</a:t>
            </a:r>
          </a:p>
          <a:p>
            <a:pPr lvl="1">
              <a:buFont typeface="Courier New" pitchFamily="34" charset="0"/>
              <a:buChar char="o"/>
            </a:pPr>
            <a:r>
              <a:rPr lang="en-US" b="1" spc="10" dirty="0">
                <a:solidFill>
                  <a:srgbClr val="000000"/>
                </a:solidFill>
              </a:rPr>
              <a:t>Measurement</a:t>
            </a:r>
            <a:r>
              <a:rPr lang="en-US" spc="10" dirty="0">
                <a:solidFill>
                  <a:srgbClr val="000000"/>
                </a:solidFill>
              </a:rPr>
              <a:t>: To avoid confusion between a target and the crowd behind them, a distance measurement is needed.</a:t>
            </a:r>
          </a:p>
          <a:p>
            <a:pPr lvl="1">
              <a:buFont typeface="Courier New" pitchFamily="34" charset="0"/>
              <a:buChar char="o"/>
            </a:pPr>
            <a:r>
              <a:rPr lang="en-US" b="1" spc="10" dirty="0">
                <a:solidFill>
                  <a:srgbClr val="000000"/>
                </a:solidFill>
              </a:rPr>
              <a:t>Intuitive behavior accommodation</a:t>
            </a:r>
            <a:r>
              <a:rPr lang="en-US" spc="10" dirty="0">
                <a:solidFill>
                  <a:srgbClr val="000000"/>
                </a:solidFill>
              </a:rPr>
              <a:t>: Humans blink and move around, system needs to accommodate these instinctive behaviors.</a:t>
            </a:r>
          </a:p>
          <a:p>
            <a:pPr lvl="1">
              <a:buFont typeface="Courier New" pitchFamily="34" charset="0"/>
              <a:buChar char="o"/>
            </a:pPr>
            <a:r>
              <a:rPr lang="en-US" b="1" spc="10" dirty="0">
                <a:solidFill>
                  <a:srgbClr val="000000"/>
                </a:solidFill>
              </a:rPr>
              <a:t>Distinguishing authentic and false faces</a:t>
            </a:r>
            <a:r>
              <a:rPr lang="en-US" spc="10" dirty="0">
                <a:solidFill>
                  <a:srgbClr val="000000"/>
                </a:solidFill>
              </a:rPr>
              <a:t>: Differentiating real from faces on images or t-shirts is important.</a:t>
            </a:r>
          </a:p>
        </p:txBody>
      </p:sp>
      <p:pic>
        <p:nvPicPr>
          <p:cNvPr id="4" name="Picture 3" descr="A close-up of a device&#10;&#10;AI-generated content may be incorrect.">
            <a:extLst>
              <a:ext uri="{FF2B5EF4-FFF2-40B4-BE49-F238E27FC236}">
                <a16:creationId xmlns:a16="http://schemas.microsoft.com/office/drawing/2014/main" id="{6F105CB1-DA28-1D6A-5319-449A4FCB3DD2}"/>
              </a:ext>
            </a:extLst>
          </p:cNvPr>
          <p:cNvPicPr>
            <a:picLocks noChangeAspect="1"/>
          </p:cNvPicPr>
          <p:nvPr/>
        </p:nvPicPr>
        <p:blipFill>
          <a:blip r:embed="rId2"/>
          <a:stretch>
            <a:fillRect/>
          </a:stretch>
        </p:blipFill>
        <p:spPr>
          <a:xfrm>
            <a:off x="6691029" y="1842118"/>
            <a:ext cx="4267989" cy="3756660"/>
          </a:xfrm>
          <a:prstGeom prst="rect">
            <a:avLst/>
          </a:prstGeom>
        </p:spPr>
      </p:pic>
    </p:spTree>
    <p:extLst>
      <p:ext uri="{BB962C8B-B14F-4D97-AF65-F5344CB8AC3E}">
        <p14:creationId xmlns:p14="http://schemas.microsoft.com/office/powerpoint/2010/main" val="3380038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5EAC-8A72-D18F-5B9D-F9E6CEB79317}"/>
              </a:ext>
            </a:extLst>
          </p:cNvPr>
          <p:cNvSpPr>
            <a:spLocks noGrp="1"/>
          </p:cNvSpPr>
          <p:nvPr>
            <p:ph type="title"/>
          </p:nvPr>
        </p:nvSpPr>
        <p:spPr/>
        <p:txBody>
          <a:bodyPr/>
          <a:lstStyle/>
          <a:p>
            <a:r>
              <a:rPr lang="en-US" dirty="0"/>
              <a:t>ISO/IEC 19794-5</a:t>
            </a:r>
          </a:p>
        </p:txBody>
      </p:sp>
      <p:sp>
        <p:nvSpPr>
          <p:cNvPr id="3" name="Content Placeholder 2">
            <a:extLst>
              <a:ext uri="{FF2B5EF4-FFF2-40B4-BE49-F238E27FC236}">
                <a16:creationId xmlns:a16="http://schemas.microsoft.com/office/drawing/2014/main" id="{7A9DD35B-E417-BE61-BAC1-022A5F1C5932}"/>
              </a:ext>
            </a:extLst>
          </p:cNvPr>
          <p:cNvSpPr>
            <a:spLocks noGrp="1"/>
          </p:cNvSpPr>
          <p:nvPr>
            <p:ph idx="1"/>
          </p:nvPr>
        </p:nvSpPr>
        <p:spPr/>
        <p:txBody>
          <a:bodyPr vert="horz" lIns="91440" tIns="45720" rIns="91440" bIns="45720" rtlCol="0" anchor="t">
            <a:normAutofit/>
          </a:bodyPr>
          <a:lstStyle/>
          <a:p>
            <a:pPr marL="0" indent="0">
              <a:buNone/>
            </a:pPr>
            <a:endParaRPr lang="en-US"/>
          </a:p>
          <a:p>
            <a:endParaRPr lang="en-US"/>
          </a:p>
        </p:txBody>
      </p:sp>
      <p:sp>
        <p:nvSpPr>
          <p:cNvPr id="5" name="Content Placeholder 2">
            <a:extLst>
              <a:ext uri="{FF2B5EF4-FFF2-40B4-BE49-F238E27FC236}">
                <a16:creationId xmlns:a16="http://schemas.microsoft.com/office/drawing/2014/main" id="{D2962C58-76C8-E01C-31CE-E83CD8E24FEE}"/>
              </a:ext>
            </a:extLst>
          </p:cNvPr>
          <p:cNvSpPr txBox="1">
            <a:spLocks/>
          </p:cNvSpPr>
          <p:nvPr/>
        </p:nvSpPr>
        <p:spPr>
          <a:xfrm>
            <a:off x="1263132" y="1830060"/>
            <a:ext cx="8595360" cy="1468094"/>
          </a:xfrm>
          <a:prstGeom prst="rect">
            <a:avLst/>
          </a:prstGeom>
        </p:spPr>
        <p:txBody>
          <a:bodyPr vert="horz" lIns="91440" tIns="45720" rIns="91440" bIns="45720" rtlCol="0" anchor="t">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a:ea typeface="+mn-lt"/>
                <a:cs typeface="+mn-lt"/>
              </a:rPr>
              <a:t>ISO/IEC 19794-5 is a standard that “specifies a record format for storing, recording, and transmitting information from one or more facial images or a short video stream of facial images” [7]. It is part of the ISO, or the International Organization for Standardization’s guidelines regarding biometric formatting.</a:t>
            </a:r>
            <a:endParaRPr lang="en-US" dirty="0" err="1"/>
          </a:p>
        </p:txBody>
      </p:sp>
      <p:pic>
        <p:nvPicPr>
          <p:cNvPr id="4" name="Picture 3" descr="A collage of a person and person&#10;&#10;AI-generated content may be incorrect.">
            <a:extLst>
              <a:ext uri="{FF2B5EF4-FFF2-40B4-BE49-F238E27FC236}">
                <a16:creationId xmlns:a16="http://schemas.microsoft.com/office/drawing/2014/main" id="{80B0AFDC-05D6-3B4F-7CCF-FEEDFA5BB2AE}"/>
              </a:ext>
            </a:extLst>
          </p:cNvPr>
          <p:cNvPicPr>
            <a:picLocks noChangeAspect="1"/>
          </p:cNvPicPr>
          <p:nvPr/>
        </p:nvPicPr>
        <p:blipFill>
          <a:blip r:embed="rId2"/>
          <a:stretch>
            <a:fillRect/>
          </a:stretch>
        </p:blipFill>
        <p:spPr>
          <a:xfrm>
            <a:off x="473676" y="3430487"/>
            <a:ext cx="5148649" cy="2866537"/>
          </a:xfrm>
          <a:prstGeom prst="rect">
            <a:avLst/>
          </a:prstGeom>
        </p:spPr>
      </p:pic>
      <p:sp>
        <p:nvSpPr>
          <p:cNvPr id="6" name="Content Placeholder 2">
            <a:extLst>
              <a:ext uri="{FF2B5EF4-FFF2-40B4-BE49-F238E27FC236}">
                <a16:creationId xmlns:a16="http://schemas.microsoft.com/office/drawing/2014/main" id="{5275E360-2FEE-E7B3-4829-97E1CE484800}"/>
              </a:ext>
            </a:extLst>
          </p:cNvPr>
          <p:cNvSpPr txBox="1">
            <a:spLocks/>
          </p:cNvSpPr>
          <p:nvPr/>
        </p:nvSpPr>
        <p:spPr>
          <a:xfrm>
            <a:off x="5924375" y="3429573"/>
            <a:ext cx="5169793" cy="2868527"/>
          </a:xfrm>
          <a:prstGeom prst="rect">
            <a:avLst/>
          </a:prstGeom>
        </p:spPr>
        <p:txBody>
          <a:bodyPr vert="horz" lIns="91440" tIns="45720" rIns="91440" bIns="45720" rtlCol="0" anchor="t">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a:ea typeface="+mn-lt"/>
                <a:cs typeface="+mn-lt"/>
              </a:rPr>
              <a:t>ICAO (International Civil Aviation Organization) has some standardized formats for travel documents as assigned by the ISO, so that identification by comparison and detailed examination of human features is possible.</a:t>
            </a:r>
          </a:p>
          <a:p>
            <a:pPr lvl="1">
              <a:buFont typeface="Courier New" pitchFamily="34" charset="0"/>
              <a:buChar char="o"/>
            </a:pPr>
            <a:r>
              <a:rPr lang="en-US" spc="10" dirty="0">
                <a:solidFill>
                  <a:srgbClr val="000000"/>
                </a:solidFill>
              </a:rPr>
              <a:t>Scenic restraints and image attributes</a:t>
            </a:r>
          </a:p>
          <a:p>
            <a:pPr lvl="1">
              <a:buFont typeface="Courier New" pitchFamily="34" charset="0"/>
              <a:buChar char="o"/>
            </a:pPr>
            <a:r>
              <a:rPr lang="en-US" spc="10" dirty="0">
                <a:solidFill>
                  <a:srgbClr val="000000"/>
                </a:solidFill>
              </a:rPr>
              <a:t>Posing, clothing, expression</a:t>
            </a:r>
          </a:p>
          <a:p>
            <a:pPr lvl="1">
              <a:buFont typeface="Courier New" pitchFamily="34" charset="0"/>
              <a:buChar char="o"/>
            </a:pPr>
            <a:r>
              <a:rPr lang="en-US" spc="10" dirty="0">
                <a:solidFill>
                  <a:srgbClr val="000000"/>
                </a:solidFill>
              </a:rPr>
              <a:t>Resolution, size, lighting, saturation, focus</a:t>
            </a:r>
          </a:p>
          <a:p>
            <a:pPr lvl="1">
              <a:buFont typeface="Courier New" pitchFamily="34" charset="0"/>
              <a:buChar char="o"/>
            </a:pPr>
            <a:endParaRPr lang="en-US" spc="10" dirty="0">
              <a:solidFill>
                <a:srgbClr val="000000"/>
              </a:solidFill>
            </a:endParaRPr>
          </a:p>
        </p:txBody>
      </p:sp>
    </p:spTree>
    <p:extLst>
      <p:ext uri="{BB962C8B-B14F-4D97-AF65-F5344CB8AC3E}">
        <p14:creationId xmlns:p14="http://schemas.microsoft.com/office/powerpoint/2010/main" val="611793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62104-1D54-C70D-10E7-C5AB53379972}"/>
              </a:ext>
            </a:extLst>
          </p:cNvPr>
          <p:cNvSpPr>
            <a:spLocks noGrp="1"/>
          </p:cNvSpPr>
          <p:nvPr>
            <p:ph type="ctrTitle"/>
          </p:nvPr>
        </p:nvSpPr>
        <p:spPr/>
        <p:txBody>
          <a:bodyPr/>
          <a:lstStyle/>
          <a:p>
            <a:r>
              <a:rPr lang="en-US"/>
              <a:t>Phase II</a:t>
            </a:r>
          </a:p>
        </p:txBody>
      </p:sp>
      <p:sp>
        <p:nvSpPr>
          <p:cNvPr id="3" name="Subtitle 2">
            <a:extLst>
              <a:ext uri="{FF2B5EF4-FFF2-40B4-BE49-F238E27FC236}">
                <a16:creationId xmlns:a16="http://schemas.microsoft.com/office/drawing/2014/main" id="{4DBD611C-0BD5-8305-3CA4-32ADE1FA404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19483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696ED-388C-8004-1B80-839846B0E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52CFF-446F-9E3B-8F4A-BD5179DDDD92}"/>
              </a:ext>
            </a:extLst>
          </p:cNvPr>
          <p:cNvSpPr>
            <a:spLocks noGrp="1"/>
          </p:cNvSpPr>
          <p:nvPr>
            <p:ph type="ctrTitle"/>
          </p:nvPr>
        </p:nvSpPr>
        <p:spPr/>
        <p:txBody>
          <a:bodyPr/>
          <a:lstStyle/>
          <a:p>
            <a:r>
              <a:rPr lang="en-US"/>
              <a:t>Introduction to Evaluation</a:t>
            </a:r>
          </a:p>
        </p:txBody>
      </p:sp>
      <p:sp>
        <p:nvSpPr>
          <p:cNvPr id="3" name="Subtitle 2">
            <a:extLst>
              <a:ext uri="{FF2B5EF4-FFF2-40B4-BE49-F238E27FC236}">
                <a16:creationId xmlns:a16="http://schemas.microsoft.com/office/drawing/2014/main" id="{7A7F43AB-873B-A564-B994-EB33D4C5DCE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99164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7EE9A-59EF-ACEA-431B-6ACA941180E7}"/>
              </a:ext>
            </a:extLst>
          </p:cNvPr>
          <p:cNvSpPr>
            <a:spLocks noGrp="1"/>
          </p:cNvSpPr>
          <p:nvPr>
            <p:ph type="title"/>
          </p:nvPr>
        </p:nvSpPr>
        <p:spPr/>
        <p:txBody>
          <a:bodyPr/>
          <a:lstStyle/>
          <a:p>
            <a:r>
              <a:rPr lang="en-US"/>
              <a:t>W</a:t>
            </a:r>
            <a:r>
              <a:rPr lang="en-KR"/>
              <a:t>hich algorithms?</a:t>
            </a:r>
          </a:p>
        </p:txBody>
      </p:sp>
      <p:sp>
        <p:nvSpPr>
          <p:cNvPr id="3" name="Content Placeholder 2">
            <a:extLst>
              <a:ext uri="{FF2B5EF4-FFF2-40B4-BE49-F238E27FC236}">
                <a16:creationId xmlns:a16="http://schemas.microsoft.com/office/drawing/2014/main" id="{21D6BBA0-54FA-15A4-383A-4F72F99836F4}"/>
              </a:ext>
            </a:extLst>
          </p:cNvPr>
          <p:cNvSpPr>
            <a:spLocks noGrp="1"/>
          </p:cNvSpPr>
          <p:nvPr>
            <p:ph idx="1"/>
          </p:nvPr>
        </p:nvSpPr>
        <p:spPr/>
        <p:txBody>
          <a:bodyPr>
            <a:normAutofit/>
          </a:bodyPr>
          <a:lstStyle/>
          <a:p>
            <a:r>
              <a:rPr lang="en-US" sz="2800" err="1"/>
              <a:t>Arcface</a:t>
            </a:r>
            <a:endParaRPr lang="en-US" sz="2800"/>
          </a:p>
          <a:p>
            <a:r>
              <a:rPr lang="en-US" sz="2800" err="1"/>
              <a:t>CurricularFace</a:t>
            </a:r>
            <a:endParaRPr lang="en-KR" sz="2800"/>
          </a:p>
          <a:p>
            <a:endParaRPr lang="en-KR" sz="2800"/>
          </a:p>
        </p:txBody>
      </p:sp>
    </p:spTree>
    <p:extLst>
      <p:ext uri="{BB962C8B-B14F-4D97-AF65-F5344CB8AC3E}">
        <p14:creationId xmlns:p14="http://schemas.microsoft.com/office/powerpoint/2010/main" val="4068440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D6B3D-4904-FAEF-7A08-996B0AE2A53E}"/>
              </a:ext>
            </a:extLst>
          </p:cNvPr>
          <p:cNvSpPr>
            <a:spLocks noGrp="1"/>
          </p:cNvSpPr>
          <p:nvPr>
            <p:ph type="title"/>
          </p:nvPr>
        </p:nvSpPr>
        <p:spPr>
          <a:xfrm>
            <a:off x="718874" y="677863"/>
            <a:ext cx="4534047" cy="1325562"/>
          </a:xfrm>
        </p:spPr>
        <p:txBody>
          <a:bodyPr>
            <a:normAutofit/>
          </a:bodyPr>
          <a:lstStyle/>
          <a:p>
            <a:r>
              <a:rPr lang="en-US" sz="3700"/>
              <a:t>B</a:t>
            </a:r>
            <a:r>
              <a:rPr lang="en-KR" sz="3700"/>
              <a:t>rief Explanation of Both Algorithms</a:t>
            </a:r>
          </a:p>
        </p:txBody>
      </p:sp>
      <p:sp>
        <p:nvSpPr>
          <p:cNvPr id="3" name="Content Placeholder 2">
            <a:extLst>
              <a:ext uri="{FF2B5EF4-FFF2-40B4-BE49-F238E27FC236}">
                <a16:creationId xmlns:a16="http://schemas.microsoft.com/office/drawing/2014/main" id="{78EAD60F-DEFF-C679-FDF7-F43D2EA9A2FD}"/>
              </a:ext>
            </a:extLst>
          </p:cNvPr>
          <p:cNvSpPr>
            <a:spLocks noGrp="1"/>
          </p:cNvSpPr>
          <p:nvPr>
            <p:ph idx="1"/>
          </p:nvPr>
        </p:nvSpPr>
        <p:spPr>
          <a:xfrm>
            <a:off x="718874" y="2325158"/>
            <a:ext cx="4534048" cy="3854979"/>
          </a:xfrm>
        </p:spPr>
        <p:txBody>
          <a:bodyPr>
            <a:normAutofit/>
          </a:bodyPr>
          <a:lstStyle/>
          <a:p>
            <a:pPr marL="0" indent="0">
              <a:buNone/>
            </a:pPr>
            <a:r>
              <a:rPr lang="en-KR"/>
              <a:t>1. Face Detection</a:t>
            </a:r>
          </a:p>
          <a:p>
            <a:pPr lvl="1"/>
            <a:r>
              <a:rPr lang="en-US"/>
              <a:t>Detect the position of a face in the image</a:t>
            </a:r>
            <a:endParaRPr lang="en-KR"/>
          </a:p>
          <a:p>
            <a:pPr marL="0" indent="0">
              <a:buNone/>
            </a:pPr>
            <a:r>
              <a:rPr lang="en-KR"/>
              <a:t>2. Landmark </a:t>
            </a:r>
            <a:r>
              <a:rPr lang="en-US"/>
              <a:t>Localization</a:t>
            </a:r>
          </a:p>
          <a:p>
            <a:pPr lvl="1"/>
            <a:r>
              <a:rPr lang="en-US"/>
              <a:t>Detects key facial points: eyes, nose, and mouth</a:t>
            </a:r>
          </a:p>
          <a:p>
            <a:pPr marL="0" indent="0">
              <a:buNone/>
            </a:pPr>
            <a:r>
              <a:rPr lang="en-US"/>
              <a:t>3. Face Alignment</a:t>
            </a:r>
          </a:p>
          <a:p>
            <a:pPr lvl="1"/>
            <a:r>
              <a:rPr lang="en-US"/>
              <a:t>Aligns and crops the face based on detected landmarks</a:t>
            </a:r>
          </a:p>
          <a:p>
            <a:pPr marL="0" indent="0">
              <a:buNone/>
            </a:pPr>
            <a:r>
              <a:rPr lang="en-US"/>
              <a:t>4. Face Embedding Extraction</a:t>
            </a:r>
          </a:p>
          <a:p>
            <a:pPr lvl="1"/>
            <a:r>
              <a:rPr lang="en-US"/>
              <a:t>Extracts a 512-dimensional feature vector from the aligned face</a:t>
            </a:r>
          </a:p>
          <a:p>
            <a:endParaRPr lang="en-KR"/>
          </a:p>
        </p:txBody>
      </p:sp>
      <p:pic>
        <p:nvPicPr>
          <p:cNvPr id="11" name="Picture 10" descr="A group of people posing for a photo&#10;&#10;AI-generated content may be incorrect.">
            <a:extLst>
              <a:ext uri="{FF2B5EF4-FFF2-40B4-BE49-F238E27FC236}">
                <a16:creationId xmlns:a16="http://schemas.microsoft.com/office/drawing/2014/main" id="{5523AC6F-A4B1-EBCA-D6A8-5A73C18C47C1}"/>
              </a:ext>
            </a:extLst>
          </p:cNvPr>
          <p:cNvPicPr>
            <a:picLocks noChangeAspect="1"/>
          </p:cNvPicPr>
          <p:nvPr/>
        </p:nvPicPr>
        <p:blipFill rotWithShape="1">
          <a:blip r:embed="rId2">
            <a:extLst>
              <a:ext uri="{28A0092B-C50C-407E-A947-70E740481C1C}">
                <a14:useLocalDpi xmlns:a14="http://schemas.microsoft.com/office/drawing/2010/main" val="0"/>
              </a:ext>
            </a:extLst>
          </a:blip>
          <a:srcRect l="3437" t="21991" r="23333" b="10350"/>
          <a:stretch/>
        </p:blipFill>
        <p:spPr>
          <a:xfrm>
            <a:off x="5591503" y="2325158"/>
            <a:ext cx="5491415" cy="3297876"/>
          </a:xfrm>
          <a:prstGeom prst="rect">
            <a:avLst/>
          </a:prstGeom>
        </p:spPr>
      </p:pic>
    </p:spTree>
    <p:extLst>
      <p:ext uri="{BB962C8B-B14F-4D97-AF65-F5344CB8AC3E}">
        <p14:creationId xmlns:p14="http://schemas.microsoft.com/office/powerpoint/2010/main" val="4259181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477A-E5A7-D38E-E769-4E7747969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C7E7C-67F5-9029-2FD3-8254BCC33896}"/>
              </a:ext>
            </a:extLst>
          </p:cNvPr>
          <p:cNvSpPr>
            <a:spLocks noGrp="1"/>
          </p:cNvSpPr>
          <p:nvPr>
            <p:ph type="title"/>
          </p:nvPr>
        </p:nvSpPr>
        <p:spPr>
          <a:xfrm>
            <a:off x="718874" y="677863"/>
            <a:ext cx="4534047" cy="1325562"/>
          </a:xfrm>
        </p:spPr>
        <p:txBody>
          <a:bodyPr>
            <a:normAutofit/>
          </a:bodyPr>
          <a:lstStyle/>
          <a:p>
            <a:r>
              <a:rPr lang="en-US" sz="3700" err="1"/>
              <a:t>Arcface</a:t>
            </a:r>
            <a:endParaRPr lang="en-KR" sz="3700"/>
          </a:p>
        </p:txBody>
      </p:sp>
      <p:sp>
        <p:nvSpPr>
          <p:cNvPr id="3" name="Content Placeholder 2">
            <a:extLst>
              <a:ext uri="{FF2B5EF4-FFF2-40B4-BE49-F238E27FC236}">
                <a16:creationId xmlns:a16="http://schemas.microsoft.com/office/drawing/2014/main" id="{0A2BDADA-C747-0CEC-1423-353899D841BB}"/>
              </a:ext>
            </a:extLst>
          </p:cNvPr>
          <p:cNvSpPr>
            <a:spLocks noGrp="1"/>
          </p:cNvSpPr>
          <p:nvPr>
            <p:ph idx="1"/>
          </p:nvPr>
        </p:nvSpPr>
        <p:spPr>
          <a:xfrm>
            <a:off x="718874" y="2325158"/>
            <a:ext cx="4534048" cy="3854979"/>
          </a:xfrm>
        </p:spPr>
        <p:txBody>
          <a:bodyPr>
            <a:normAutofit/>
          </a:bodyPr>
          <a:lstStyle/>
          <a:p>
            <a:pPr marL="0" indent="0">
              <a:buNone/>
            </a:pPr>
            <a:r>
              <a:rPr lang="en-KR"/>
              <a:t>1. Face Detection</a:t>
            </a:r>
          </a:p>
          <a:p>
            <a:pPr lvl="1"/>
            <a:r>
              <a:rPr lang="en-US"/>
              <a:t>Detect the position of a face in the image</a:t>
            </a:r>
            <a:endParaRPr lang="en-KR"/>
          </a:p>
          <a:p>
            <a:pPr marL="0" indent="0">
              <a:buNone/>
            </a:pPr>
            <a:r>
              <a:rPr lang="en-KR"/>
              <a:t>2. Landmark </a:t>
            </a:r>
            <a:r>
              <a:rPr lang="en-US"/>
              <a:t>Localization</a:t>
            </a:r>
          </a:p>
          <a:p>
            <a:pPr lvl="1"/>
            <a:r>
              <a:rPr lang="en-US"/>
              <a:t>Detects key facial points: eyes, nose, and mouth</a:t>
            </a:r>
          </a:p>
          <a:p>
            <a:pPr marL="0" indent="0">
              <a:buNone/>
            </a:pPr>
            <a:r>
              <a:rPr lang="en-US"/>
              <a:t>3. Face Alignment</a:t>
            </a:r>
          </a:p>
          <a:p>
            <a:pPr lvl="1"/>
            <a:r>
              <a:rPr lang="en-US"/>
              <a:t>Aligns and crops the face based on detected landmarks</a:t>
            </a:r>
          </a:p>
          <a:p>
            <a:pPr marL="0" indent="0">
              <a:buNone/>
            </a:pPr>
            <a:r>
              <a:rPr lang="en-US"/>
              <a:t>4. Face Embedding Extraction</a:t>
            </a:r>
          </a:p>
          <a:p>
            <a:pPr lvl="1"/>
            <a:r>
              <a:rPr lang="en-US"/>
              <a:t>Extracts a 512-dimensional feature vector from the aligned face</a:t>
            </a:r>
          </a:p>
          <a:p>
            <a:endParaRPr lang="en-KR"/>
          </a:p>
        </p:txBody>
      </p:sp>
      <p:sp>
        <p:nvSpPr>
          <p:cNvPr id="10" name="Right Bracket 9">
            <a:extLst>
              <a:ext uri="{FF2B5EF4-FFF2-40B4-BE49-F238E27FC236}">
                <a16:creationId xmlns:a16="http://schemas.microsoft.com/office/drawing/2014/main" id="{52890114-82F0-0981-2FAC-ADD18351097D}"/>
              </a:ext>
            </a:extLst>
          </p:cNvPr>
          <p:cNvSpPr/>
          <p:nvPr/>
        </p:nvSpPr>
        <p:spPr>
          <a:xfrm>
            <a:off x="5355771" y="2731325"/>
            <a:ext cx="308759" cy="292133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sp>
        <p:nvSpPr>
          <p:cNvPr id="12" name="TextBox 11">
            <a:extLst>
              <a:ext uri="{FF2B5EF4-FFF2-40B4-BE49-F238E27FC236}">
                <a16:creationId xmlns:a16="http://schemas.microsoft.com/office/drawing/2014/main" id="{6C2A8551-50C7-58A3-0630-8B62AFD5D1E0}"/>
              </a:ext>
            </a:extLst>
          </p:cNvPr>
          <p:cNvSpPr txBox="1"/>
          <p:nvPr/>
        </p:nvSpPr>
        <p:spPr>
          <a:xfrm>
            <a:off x="5971871" y="4007324"/>
            <a:ext cx="1111202" cy="369332"/>
          </a:xfrm>
          <a:prstGeom prst="rect">
            <a:avLst/>
          </a:prstGeom>
          <a:noFill/>
        </p:spPr>
        <p:txBody>
          <a:bodyPr wrap="none" rtlCol="0">
            <a:spAutoFit/>
          </a:bodyPr>
          <a:lstStyle/>
          <a:p>
            <a:r>
              <a:rPr lang="en-US" err="1"/>
              <a:t>buffalo_l</a:t>
            </a:r>
            <a:endParaRPr lang="en-KR"/>
          </a:p>
        </p:txBody>
      </p:sp>
    </p:spTree>
    <p:extLst>
      <p:ext uri="{BB962C8B-B14F-4D97-AF65-F5344CB8AC3E}">
        <p14:creationId xmlns:p14="http://schemas.microsoft.com/office/powerpoint/2010/main" val="1615601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CDD34-2BD7-5D60-C328-C6FF4293D7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6A3E1-2B36-FB46-0103-55E14BBB6EC0}"/>
              </a:ext>
            </a:extLst>
          </p:cNvPr>
          <p:cNvSpPr>
            <a:spLocks noGrp="1"/>
          </p:cNvSpPr>
          <p:nvPr>
            <p:ph type="title"/>
          </p:nvPr>
        </p:nvSpPr>
        <p:spPr>
          <a:xfrm>
            <a:off x="718874" y="677863"/>
            <a:ext cx="4534047" cy="1325562"/>
          </a:xfrm>
        </p:spPr>
        <p:txBody>
          <a:bodyPr>
            <a:normAutofit/>
          </a:bodyPr>
          <a:lstStyle/>
          <a:p>
            <a:r>
              <a:rPr lang="en-US" sz="3700" err="1"/>
              <a:t>CurricularFace</a:t>
            </a:r>
            <a:endParaRPr lang="en-KR" sz="3700"/>
          </a:p>
        </p:txBody>
      </p:sp>
      <p:sp>
        <p:nvSpPr>
          <p:cNvPr id="3" name="Content Placeholder 2">
            <a:extLst>
              <a:ext uri="{FF2B5EF4-FFF2-40B4-BE49-F238E27FC236}">
                <a16:creationId xmlns:a16="http://schemas.microsoft.com/office/drawing/2014/main" id="{D28BE043-9D93-D821-9FDC-7D6FB3C3F867}"/>
              </a:ext>
            </a:extLst>
          </p:cNvPr>
          <p:cNvSpPr>
            <a:spLocks noGrp="1"/>
          </p:cNvSpPr>
          <p:nvPr>
            <p:ph idx="1"/>
          </p:nvPr>
        </p:nvSpPr>
        <p:spPr>
          <a:xfrm>
            <a:off x="718874" y="2325158"/>
            <a:ext cx="4534048" cy="3854979"/>
          </a:xfrm>
        </p:spPr>
        <p:txBody>
          <a:bodyPr>
            <a:normAutofit/>
          </a:bodyPr>
          <a:lstStyle/>
          <a:p>
            <a:pPr marL="0" indent="0">
              <a:buNone/>
            </a:pPr>
            <a:r>
              <a:rPr lang="en-KR"/>
              <a:t>1. Face Detection</a:t>
            </a:r>
          </a:p>
          <a:p>
            <a:pPr lvl="1"/>
            <a:r>
              <a:rPr lang="en-US"/>
              <a:t>Detect the position of a face in the image</a:t>
            </a:r>
            <a:endParaRPr lang="en-KR"/>
          </a:p>
          <a:p>
            <a:pPr marL="0" indent="0">
              <a:buNone/>
            </a:pPr>
            <a:r>
              <a:rPr lang="en-KR"/>
              <a:t>2. Landmark </a:t>
            </a:r>
            <a:r>
              <a:rPr lang="en-US"/>
              <a:t>Localization</a:t>
            </a:r>
          </a:p>
          <a:p>
            <a:pPr lvl="1"/>
            <a:r>
              <a:rPr lang="en-US"/>
              <a:t>Detects key facial points: eyes, nose, and mouth</a:t>
            </a:r>
          </a:p>
          <a:p>
            <a:pPr marL="0" indent="0">
              <a:buNone/>
            </a:pPr>
            <a:r>
              <a:rPr lang="en-US"/>
              <a:t>3. Face Alignment</a:t>
            </a:r>
          </a:p>
          <a:p>
            <a:pPr lvl="1"/>
            <a:r>
              <a:rPr lang="en-US"/>
              <a:t>Aligns and crops the face based on detected landmarks</a:t>
            </a:r>
          </a:p>
          <a:p>
            <a:pPr marL="0" indent="0">
              <a:buNone/>
            </a:pPr>
            <a:r>
              <a:rPr lang="en-US"/>
              <a:t>4. Face Embedding Extraction</a:t>
            </a:r>
          </a:p>
          <a:p>
            <a:pPr lvl="1"/>
            <a:r>
              <a:rPr lang="en-US"/>
              <a:t>Extracts a 512-dimensional feature vector from the aligned face</a:t>
            </a:r>
          </a:p>
          <a:p>
            <a:endParaRPr lang="en-KR"/>
          </a:p>
        </p:txBody>
      </p:sp>
      <p:sp>
        <p:nvSpPr>
          <p:cNvPr id="4" name="Right Bracket 3">
            <a:extLst>
              <a:ext uri="{FF2B5EF4-FFF2-40B4-BE49-F238E27FC236}">
                <a16:creationId xmlns:a16="http://schemas.microsoft.com/office/drawing/2014/main" id="{2B644E71-DBBE-0792-3BA3-44A443D90957}"/>
              </a:ext>
            </a:extLst>
          </p:cNvPr>
          <p:cNvSpPr/>
          <p:nvPr/>
        </p:nvSpPr>
        <p:spPr>
          <a:xfrm>
            <a:off x="5355771" y="2731325"/>
            <a:ext cx="308759" cy="2018805"/>
          </a:xfrm>
          <a:prstGeom prst="righ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KR"/>
          </a:p>
        </p:txBody>
      </p:sp>
      <p:sp>
        <p:nvSpPr>
          <p:cNvPr id="5" name="TextBox 4">
            <a:extLst>
              <a:ext uri="{FF2B5EF4-FFF2-40B4-BE49-F238E27FC236}">
                <a16:creationId xmlns:a16="http://schemas.microsoft.com/office/drawing/2014/main" id="{70B2FDDF-BC74-F55D-4017-93C23A2DE566}"/>
              </a:ext>
            </a:extLst>
          </p:cNvPr>
          <p:cNvSpPr txBox="1"/>
          <p:nvPr/>
        </p:nvSpPr>
        <p:spPr>
          <a:xfrm>
            <a:off x="5971871" y="3556061"/>
            <a:ext cx="1111202" cy="369332"/>
          </a:xfrm>
          <a:prstGeom prst="rect">
            <a:avLst/>
          </a:prstGeom>
          <a:noFill/>
        </p:spPr>
        <p:txBody>
          <a:bodyPr wrap="none" rtlCol="0">
            <a:spAutoFit/>
          </a:bodyPr>
          <a:lstStyle/>
          <a:p>
            <a:r>
              <a:rPr lang="en-US" err="1"/>
              <a:t>buffalo_l</a:t>
            </a:r>
            <a:endParaRPr lang="en-KR"/>
          </a:p>
        </p:txBody>
      </p:sp>
      <p:cxnSp>
        <p:nvCxnSpPr>
          <p:cNvPr id="7" name="Straight Arrow Connector 6">
            <a:extLst>
              <a:ext uri="{FF2B5EF4-FFF2-40B4-BE49-F238E27FC236}">
                <a16:creationId xmlns:a16="http://schemas.microsoft.com/office/drawing/2014/main" id="{0820C64B-9B17-E1D1-D270-415112441EBB}"/>
              </a:ext>
            </a:extLst>
          </p:cNvPr>
          <p:cNvCxnSpPr/>
          <p:nvPr/>
        </p:nvCxnSpPr>
        <p:spPr>
          <a:xfrm>
            <a:off x="4987636" y="5569527"/>
            <a:ext cx="8668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2FE14AD-267F-E7B1-CFF6-BDE7469D989F}"/>
              </a:ext>
            </a:extLst>
          </p:cNvPr>
          <p:cNvSpPr txBox="1"/>
          <p:nvPr/>
        </p:nvSpPr>
        <p:spPr>
          <a:xfrm>
            <a:off x="5971871" y="5384861"/>
            <a:ext cx="946093" cy="369332"/>
          </a:xfrm>
          <a:prstGeom prst="rect">
            <a:avLst/>
          </a:prstGeom>
          <a:noFill/>
        </p:spPr>
        <p:txBody>
          <a:bodyPr wrap="none" rtlCol="0">
            <a:spAutoFit/>
          </a:bodyPr>
          <a:lstStyle/>
          <a:p>
            <a:r>
              <a:rPr lang="en-US"/>
              <a:t>IR_101</a:t>
            </a:r>
            <a:endParaRPr lang="en-KR"/>
          </a:p>
        </p:txBody>
      </p:sp>
    </p:spTree>
    <p:extLst>
      <p:ext uri="{BB962C8B-B14F-4D97-AF65-F5344CB8AC3E}">
        <p14:creationId xmlns:p14="http://schemas.microsoft.com/office/powerpoint/2010/main" val="862053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F18D8-1CA0-529D-058B-D2E186FF25B6}"/>
              </a:ext>
            </a:extLst>
          </p:cNvPr>
          <p:cNvSpPr>
            <a:spLocks noGrp="1"/>
          </p:cNvSpPr>
          <p:nvPr>
            <p:ph type="title"/>
          </p:nvPr>
        </p:nvSpPr>
        <p:spPr/>
        <p:txBody>
          <a:bodyPr/>
          <a:lstStyle/>
          <a:p>
            <a:r>
              <a:rPr lang="en-US"/>
              <a:t>D</a:t>
            </a:r>
            <a:r>
              <a:rPr lang="en-KR"/>
              <a:t>istance Metric</a:t>
            </a:r>
          </a:p>
        </p:txBody>
      </p:sp>
      <p:sp>
        <p:nvSpPr>
          <p:cNvPr id="3" name="Content Placeholder 2">
            <a:extLst>
              <a:ext uri="{FF2B5EF4-FFF2-40B4-BE49-F238E27FC236}">
                <a16:creationId xmlns:a16="http://schemas.microsoft.com/office/drawing/2014/main" id="{39E4126C-819C-4CE5-1B63-B118B0356591}"/>
              </a:ext>
            </a:extLst>
          </p:cNvPr>
          <p:cNvSpPr>
            <a:spLocks noGrp="1"/>
          </p:cNvSpPr>
          <p:nvPr>
            <p:ph idx="1"/>
          </p:nvPr>
        </p:nvSpPr>
        <p:spPr/>
        <p:txBody>
          <a:bodyPr>
            <a:normAutofit/>
          </a:bodyPr>
          <a:lstStyle/>
          <a:p>
            <a:r>
              <a:rPr lang="en-US" sz="2800"/>
              <a:t>C</a:t>
            </a:r>
            <a:r>
              <a:rPr lang="en-KR" sz="2800"/>
              <a:t>osine Distance</a:t>
            </a:r>
          </a:p>
          <a:p>
            <a:pPr lvl="1"/>
            <a:r>
              <a:rPr lang="en-US" sz="2600"/>
              <a:t>E</a:t>
            </a:r>
            <a:r>
              <a:rPr lang="en-KR" sz="2600"/>
              <a:t>mbeddings are normalized into unit vectors</a:t>
            </a:r>
          </a:p>
          <a:p>
            <a:pPr lvl="1"/>
            <a:r>
              <a:rPr lang="en-US" sz="2600"/>
              <a:t>The s</a:t>
            </a:r>
            <a:r>
              <a:rPr lang="en-KR" sz="2600"/>
              <a:t>ame identity tends to have the similar direction </a:t>
            </a:r>
          </a:p>
          <a:p>
            <a:pPr lvl="1"/>
            <a:r>
              <a:rPr lang="en-US" sz="2600"/>
              <a:t>M</a:t>
            </a:r>
            <a:r>
              <a:rPr lang="en-KR" sz="2600"/>
              <a:t>ore robust to lighting and distortion than Euclidean distance</a:t>
            </a:r>
          </a:p>
        </p:txBody>
      </p:sp>
    </p:spTree>
    <p:extLst>
      <p:ext uri="{BB962C8B-B14F-4D97-AF65-F5344CB8AC3E}">
        <p14:creationId xmlns:p14="http://schemas.microsoft.com/office/powerpoint/2010/main" val="3320534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2691A-BB1E-2F28-8F8C-0968B15F4E14}"/>
              </a:ext>
            </a:extLst>
          </p:cNvPr>
          <p:cNvSpPr>
            <a:spLocks noGrp="1"/>
          </p:cNvSpPr>
          <p:nvPr>
            <p:ph type="title"/>
          </p:nvPr>
        </p:nvSpPr>
        <p:spPr/>
        <p:txBody>
          <a:bodyPr/>
          <a:lstStyle/>
          <a:p>
            <a:r>
              <a:rPr lang="en-US"/>
              <a:t>E</a:t>
            </a:r>
            <a:r>
              <a:rPr lang="en-KR"/>
              <a:t>xperiment Process</a:t>
            </a:r>
          </a:p>
        </p:txBody>
      </p:sp>
      <p:sp>
        <p:nvSpPr>
          <p:cNvPr id="3" name="Content Placeholder 2">
            <a:extLst>
              <a:ext uri="{FF2B5EF4-FFF2-40B4-BE49-F238E27FC236}">
                <a16:creationId xmlns:a16="http://schemas.microsoft.com/office/drawing/2014/main" id="{1F36C97C-EC6A-DE2D-D276-92B654517D99}"/>
              </a:ext>
            </a:extLst>
          </p:cNvPr>
          <p:cNvSpPr>
            <a:spLocks noGrp="1"/>
          </p:cNvSpPr>
          <p:nvPr>
            <p:ph idx="1"/>
          </p:nvPr>
        </p:nvSpPr>
        <p:spPr>
          <a:xfrm>
            <a:off x="1261872" y="1828800"/>
            <a:ext cx="3961769" cy="4487917"/>
          </a:xfrm>
        </p:spPr>
        <p:txBody>
          <a:bodyPr>
            <a:normAutofit/>
          </a:bodyPr>
          <a:lstStyle/>
          <a:p>
            <a:r>
              <a:rPr lang="en-KR" sz="2800"/>
              <a:t>Setting 1</a:t>
            </a:r>
          </a:p>
          <a:p>
            <a:pPr lvl="1"/>
            <a:r>
              <a:rPr lang="en-KR" sz="2600"/>
              <a:t>200 subjects</a:t>
            </a:r>
          </a:p>
          <a:p>
            <a:pPr lvl="1"/>
            <a:r>
              <a:rPr lang="en-KR" sz="2600"/>
              <a:t>3 images per subject</a:t>
            </a:r>
          </a:p>
          <a:p>
            <a:pPr lvl="2"/>
            <a:r>
              <a:rPr lang="en-KR" sz="2400"/>
              <a:t>1 for gallery</a:t>
            </a:r>
          </a:p>
          <a:p>
            <a:pPr lvl="2"/>
            <a:r>
              <a:rPr lang="en-KR" sz="2400"/>
              <a:t>2 for probes</a:t>
            </a:r>
            <a:endParaRPr lang="en-KR" sz="2600"/>
          </a:p>
          <a:p>
            <a:pPr lvl="1"/>
            <a:r>
              <a:rPr lang="en-KR" sz="2600"/>
              <a:t>Genuine Pairs</a:t>
            </a:r>
          </a:p>
          <a:p>
            <a:pPr lvl="2"/>
            <a:r>
              <a:rPr lang="en-KR" sz="2400"/>
              <a:t>200x2=400</a:t>
            </a:r>
          </a:p>
          <a:p>
            <a:pPr lvl="1"/>
            <a:r>
              <a:rPr lang="en-KR" sz="2600"/>
              <a:t>Imposter Pairs</a:t>
            </a:r>
          </a:p>
          <a:p>
            <a:pPr lvl="2"/>
            <a:r>
              <a:rPr lang="en-KR" sz="2200"/>
              <a:t>400x199=79600</a:t>
            </a:r>
          </a:p>
          <a:p>
            <a:pPr marL="548640" lvl="2" indent="0">
              <a:buNone/>
            </a:pPr>
            <a:endParaRPr lang="en-KR" sz="2400"/>
          </a:p>
        </p:txBody>
      </p:sp>
      <p:sp>
        <p:nvSpPr>
          <p:cNvPr id="6" name="Content Placeholder 2">
            <a:extLst>
              <a:ext uri="{FF2B5EF4-FFF2-40B4-BE49-F238E27FC236}">
                <a16:creationId xmlns:a16="http://schemas.microsoft.com/office/drawing/2014/main" id="{F244DF2D-A502-1722-2FFB-AE965E313D0E}"/>
              </a:ext>
            </a:extLst>
          </p:cNvPr>
          <p:cNvSpPr txBox="1">
            <a:spLocks/>
          </p:cNvSpPr>
          <p:nvPr/>
        </p:nvSpPr>
        <p:spPr>
          <a:xfrm>
            <a:off x="5713003" y="1828799"/>
            <a:ext cx="3961769" cy="448791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KR" sz="2800"/>
              <a:t>Setting 2</a:t>
            </a:r>
          </a:p>
          <a:p>
            <a:pPr lvl="1"/>
            <a:r>
              <a:rPr lang="en-KR" sz="2600"/>
              <a:t>300 subjects</a:t>
            </a:r>
          </a:p>
          <a:p>
            <a:pPr lvl="1"/>
            <a:r>
              <a:rPr lang="en-KR" sz="2600"/>
              <a:t>4 images per subject</a:t>
            </a:r>
          </a:p>
          <a:p>
            <a:pPr lvl="2"/>
            <a:r>
              <a:rPr lang="en-KR" sz="2400"/>
              <a:t>1 for gallery</a:t>
            </a:r>
          </a:p>
          <a:p>
            <a:pPr lvl="2"/>
            <a:r>
              <a:rPr lang="en-KR" sz="2400"/>
              <a:t>3 for probes</a:t>
            </a:r>
            <a:endParaRPr lang="en-KR" sz="2600"/>
          </a:p>
          <a:p>
            <a:pPr lvl="1"/>
            <a:r>
              <a:rPr lang="en-KR" sz="2600"/>
              <a:t>Genuine Pairs</a:t>
            </a:r>
          </a:p>
          <a:p>
            <a:pPr lvl="2"/>
            <a:r>
              <a:rPr lang="en-KR" sz="2400"/>
              <a:t>300x3=900</a:t>
            </a:r>
          </a:p>
          <a:p>
            <a:pPr lvl="1"/>
            <a:r>
              <a:rPr lang="en-KR" sz="2600"/>
              <a:t>Imposter Pairs</a:t>
            </a:r>
          </a:p>
          <a:p>
            <a:pPr lvl="2"/>
            <a:r>
              <a:rPr lang="en-KR" sz="2200"/>
              <a:t>300x899=269,100</a:t>
            </a:r>
          </a:p>
          <a:p>
            <a:pPr marL="548640" lvl="2" indent="0">
              <a:buFont typeface="Wingdings 2" pitchFamily="18" charset="2"/>
              <a:buNone/>
            </a:pPr>
            <a:endParaRPr lang="en-KR" sz="2400"/>
          </a:p>
        </p:txBody>
      </p:sp>
    </p:spTree>
    <p:extLst>
      <p:ext uri="{BB962C8B-B14F-4D97-AF65-F5344CB8AC3E}">
        <p14:creationId xmlns:p14="http://schemas.microsoft.com/office/powerpoint/2010/main" val="1915250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2BD0A-3423-960F-AE45-44495ED35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175EF-8571-943A-D0CE-6B374A80EF89}"/>
              </a:ext>
            </a:extLst>
          </p:cNvPr>
          <p:cNvSpPr>
            <a:spLocks noGrp="1"/>
          </p:cNvSpPr>
          <p:nvPr>
            <p:ph type="ctrTitle"/>
          </p:nvPr>
        </p:nvSpPr>
        <p:spPr/>
        <p:txBody>
          <a:bodyPr/>
          <a:lstStyle/>
          <a:p>
            <a:r>
              <a:rPr lang="en-US" dirty="0"/>
              <a:t>Setting 1: 200x3</a:t>
            </a:r>
          </a:p>
        </p:txBody>
      </p:sp>
      <p:sp>
        <p:nvSpPr>
          <p:cNvPr id="3" name="Subtitle 2">
            <a:extLst>
              <a:ext uri="{FF2B5EF4-FFF2-40B4-BE49-F238E27FC236}">
                <a16:creationId xmlns:a16="http://schemas.microsoft.com/office/drawing/2014/main" id="{1C061BB0-E042-0D63-ACCD-1245A660044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96475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8FE2-FFF1-3876-F769-9B0E422C18FC}"/>
              </a:ext>
            </a:extLst>
          </p:cNvPr>
          <p:cNvSpPr>
            <a:spLocks noGrp="1"/>
          </p:cNvSpPr>
          <p:nvPr>
            <p:ph type="title"/>
          </p:nvPr>
        </p:nvSpPr>
        <p:spPr>
          <a:xfrm>
            <a:off x="1125238" y="376283"/>
            <a:ext cx="9692640" cy="766412"/>
          </a:xfrm>
        </p:spPr>
        <p:txBody>
          <a:bodyPr/>
          <a:lstStyle/>
          <a:p>
            <a:r>
              <a:rPr lang="en-US"/>
              <a:t>S</a:t>
            </a:r>
            <a:r>
              <a:rPr lang="en-KR"/>
              <a:t>etting 1 – ROC Curve (Arcface)</a:t>
            </a:r>
          </a:p>
        </p:txBody>
      </p:sp>
      <p:sp>
        <p:nvSpPr>
          <p:cNvPr id="3" name="Content Placeholder 2">
            <a:extLst>
              <a:ext uri="{FF2B5EF4-FFF2-40B4-BE49-F238E27FC236}">
                <a16:creationId xmlns:a16="http://schemas.microsoft.com/office/drawing/2014/main" id="{4D15D92F-56F3-05FA-C5D4-9E2EED3F8B99}"/>
              </a:ext>
            </a:extLst>
          </p:cNvPr>
          <p:cNvSpPr>
            <a:spLocks noGrp="1"/>
          </p:cNvSpPr>
          <p:nvPr>
            <p:ph idx="1"/>
          </p:nvPr>
        </p:nvSpPr>
        <p:spPr/>
        <p:txBody>
          <a:bodyPr/>
          <a:lstStyle/>
          <a:p>
            <a:endParaRPr lang="en-KR"/>
          </a:p>
        </p:txBody>
      </p:sp>
      <p:pic>
        <p:nvPicPr>
          <p:cNvPr id="8" name="Picture 7" descr="A graph with a line&#10;&#10;AI-generated content may be incorrect.">
            <a:extLst>
              <a:ext uri="{FF2B5EF4-FFF2-40B4-BE49-F238E27FC236}">
                <a16:creationId xmlns:a16="http://schemas.microsoft.com/office/drawing/2014/main" id="{171DAE58-FD55-195A-346C-C4CB3B0F5A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7049" y="1141476"/>
            <a:ext cx="9543050" cy="5716524"/>
          </a:xfrm>
          <a:prstGeom prst="rect">
            <a:avLst/>
          </a:prstGeom>
        </p:spPr>
      </p:pic>
    </p:spTree>
    <p:extLst>
      <p:ext uri="{BB962C8B-B14F-4D97-AF65-F5344CB8AC3E}">
        <p14:creationId xmlns:p14="http://schemas.microsoft.com/office/powerpoint/2010/main" val="3984945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D4D59-AEA7-7E94-7A18-C270B3937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2DFF3-C365-334B-EA7D-4387120DA84F}"/>
              </a:ext>
            </a:extLst>
          </p:cNvPr>
          <p:cNvSpPr>
            <a:spLocks noGrp="1"/>
          </p:cNvSpPr>
          <p:nvPr>
            <p:ph type="title"/>
          </p:nvPr>
        </p:nvSpPr>
        <p:spPr>
          <a:xfrm>
            <a:off x="1125238" y="376283"/>
            <a:ext cx="9692640" cy="766412"/>
          </a:xfrm>
        </p:spPr>
        <p:txBody>
          <a:bodyPr/>
          <a:lstStyle/>
          <a:p>
            <a:r>
              <a:rPr lang="en-US"/>
              <a:t>S</a:t>
            </a:r>
            <a:r>
              <a:rPr lang="en-KR"/>
              <a:t>etting 1 – CMC Curve (Arcface)</a:t>
            </a:r>
          </a:p>
        </p:txBody>
      </p:sp>
      <p:sp>
        <p:nvSpPr>
          <p:cNvPr id="3" name="Content Placeholder 2">
            <a:extLst>
              <a:ext uri="{FF2B5EF4-FFF2-40B4-BE49-F238E27FC236}">
                <a16:creationId xmlns:a16="http://schemas.microsoft.com/office/drawing/2014/main" id="{D8FBCDF3-D4CB-F4E1-E2BC-4E1ACA9B935C}"/>
              </a:ext>
            </a:extLst>
          </p:cNvPr>
          <p:cNvSpPr>
            <a:spLocks noGrp="1"/>
          </p:cNvSpPr>
          <p:nvPr>
            <p:ph idx="1"/>
          </p:nvPr>
        </p:nvSpPr>
        <p:spPr/>
        <p:txBody>
          <a:bodyPr/>
          <a:lstStyle/>
          <a:p>
            <a:endParaRPr lang="en-KR"/>
          </a:p>
        </p:txBody>
      </p:sp>
      <p:pic>
        <p:nvPicPr>
          <p:cNvPr id="5" name="Picture 4" descr="A graph of a graph&#10;&#10;AI-generated content may be incorrect.">
            <a:extLst>
              <a:ext uri="{FF2B5EF4-FFF2-40B4-BE49-F238E27FC236}">
                <a16:creationId xmlns:a16="http://schemas.microsoft.com/office/drawing/2014/main" id="{11605D24-F40D-EC9F-15A6-E04FE5A70B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0771" y="1142695"/>
            <a:ext cx="9361564" cy="5705779"/>
          </a:xfrm>
          <a:prstGeom prst="rect">
            <a:avLst/>
          </a:prstGeom>
        </p:spPr>
      </p:pic>
    </p:spTree>
    <p:extLst>
      <p:ext uri="{BB962C8B-B14F-4D97-AF65-F5344CB8AC3E}">
        <p14:creationId xmlns:p14="http://schemas.microsoft.com/office/powerpoint/2010/main" val="2364088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2B586-155E-805F-FE0C-8B44C82CF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BDBC4-A3BE-B183-6115-108727A50B49}"/>
              </a:ext>
            </a:extLst>
          </p:cNvPr>
          <p:cNvSpPr>
            <a:spLocks noGrp="1"/>
          </p:cNvSpPr>
          <p:nvPr>
            <p:ph type="title"/>
          </p:nvPr>
        </p:nvSpPr>
        <p:spPr>
          <a:xfrm>
            <a:off x="1008993" y="376283"/>
            <a:ext cx="9808885" cy="766412"/>
          </a:xfrm>
        </p:spPr>
        <p:txBody>
          <a:bodyPr>
            <a:normAutofit fontScale="90000"/>
          </a:bodyPr>
          <a:lstStyle/>
          <a:p>
            <a:r>
              <a:rPr lang="en-US"/>
              <a:t>S</a:t>
            </a:r>
            <a:r>
              <a:rPr lang="en-KR"/>
              <a:t>etting 1 – FPIR vs FNIR Curve (Arcface)</a:t>
            </a:r>
          </a:p>
        </p:txBody>
      </p:sp>
      <p:sp>
        <p:nvSpPr>
          <p:cNvPr id="3" name="Content Placeholder 2">
            <a:extLst>
              <a:ext uri="{FF2B5EF4-FFF2-40B4-BE49-F238E27FC236}">
                <a16:creationId xmlns:a16="http://schemas.microsoft.com/office/drawing/2014/main" id="{10D6B061-FEFE-792A-269A-5D19F5B917C3}"/>
              </a:ext>
            </a:extLst>
          </p:cNvPr>
          <p:cNvSpPr>
            <a:spLocks noGrp="1"/>
          </p:cNvSpPr>
          <p:nvPr>
            <p:ph idx="1"/>
          </p:nvPr>
        </p:nvSpPr>
        <p:spPr/>
        <p:txBody>
          <a:bodyPr/>
          <a:lstStyle/>
          <a:p>
            <a:endParaRPr lang="en-KR"/>
          </a:p>
        </p:txBody>
      </p:sp>
      <p:pic>
        <p:nvPicPr>
          <p:cNvPr id="4" name="Picture 3" descr="A graph with blue lines&#10;&#10;AI-generated content may be incorrect.">
            <a:extLst>
              <a:ext uri="{FF2B5EF4-FFF2-40B4-BE49-F238E27FC236}">
                <a16:creationId xmlns:a16="http://schemas.microsoft.com/office/drawing/2014/main" id="{73126F27-71DB-B97E-9CB8-06266D0BF97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922" t="12335" r="8192" b="9312"/>
          <a:stretch/>
        </p:blipFill>
        <p:spPr bwMode="auto">
          <a:xfrm>
            <a:off x="913261" y="1113538"/>
            <a:ext cx="9355827" cy="574446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96701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A9CE-62E1-FB4A-C030-9B1655EC9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E4728-1523-D613-29C6-BBCD1EBD8437}"/>
              </a:ext>
            </a:extLst>
          </p:cNvPr>
          <p:cNvSpPr>
            <a:spLocks noGrp="1"/>
          </p:cNvSpPr>
          <p:nvPr>
            <p:ph type="title"/>
          </p:nvPr>
        </p:nvSpPr>
        <p:spPr>
          <a:xfrm>
            <a:off x="1125238" y="376283"/>
            <a:ext cx="9692640" cy="766412"/>
          </a:xfrm>
        </p:spPr>
        <p:txBody>
          <a:bodyPr/>
          <a:lstStyle/>
          <a:p>
            <a:r>
              <a:rPr lang="en-US"/>
              <a:t>S</a:t>
            </a:r>
            <a:r>
              <a:rPr lang="en-KR"/>
              <a:t>etting 1 – ROC Curve (Curricular)</a:t>
            </a:r>
          </a:p>
        </p:txBody>
      </p:sp>
      <p:sp>
        <p:nvSpPr>
          <p:cNvPr id="3" name="Content Placeholder 2">
            <a:extLst>
              <a:ext uri="{FF2B5EF4-FFF2-40B4-BE49-F238E27FC236}">
                <a16:creationId xmlns:a16="http://schemas.microsoft.com/office/drawing/2014/main" id="{285796C3-28D3-EBAC-90D3-B995EA48B35F}"/>
              </a:ext>
            </a:extLst>
          </p:cNvPr>
          <p:cNvSpPr>
            <a:spLocks noGrp="1"/>
          </p:cNvSpPr>
          <p:nvPr>
            <p:ph idx="1"/>
          </p:nvPr>
        </p:nvSpPr>
        <p:spPr/>
        <p:txBody>
          <a:bodyPr/>
          <a:lstStyle/>
          <a:p>
            <a:endParaRPr lang="en-KR"/>
          </a:p>
        </p:txBody>
      </p:sp>
      <p:pic>
        <p:nvPicPr>
          <p:cNvPr id="4" name="Picture 3" descr="A graph with a line&#10;&#10;AI-generated content may be incorrect.">
            <a:extLst>
              <a:ext uri="{FF2B5EF4-FFF2-40B4-BE49-F238E27FC236}">
                <a16:creationId xmlns:a16="http://schemas.microsoft.com/office/drawing/2014/main" id="{D57EEA6C-E0BF-FACD-366D-EFDE574939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7049" y="1142694"/>
            <a:ext cx="9459310" cy="5681623"/>
          </a:xfrm>
          <a:prstGeom prst="rect">
            <a:avLst/>
          </a:prstGeom>
        </p:spPr>
      </p:pic>
    </p:spTree>
    <p:extLst>
      <p:ext uri="{BB962C8B-B14F-4D97-AF65-F5344CB8AC3E}">
        <p14:creationId xmlns:p14="http://schemas.microsoft.com/office/powerpoint/2010/main" val="280264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CD964-2FA7-0777-946F-0D35D3305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9CFBB-E6B4-8D41-DD68-DDF3F14A3245}"/>
              </a:ext>
            </a:extLst>
          </p:cNvPr>
          <p:cNvSpPr>
            <a:spLocks noGrp="1"/>
          </p:cNvSpPr>
          <p:nvPr>
            <p:ph type="title"/>
          </p:nvPr>
        </p:nvSpPr>
        <p:spPr>
          <a:xfrm>
            <a:off x="1125238" y="376283"/>
            <a:ext cx="9692640" cy="766412"/>
          </a:xfrm>
        </p:spPr>
        <p:txBody>
          <a:bodyPr/>
          <a:lstStyle/>
          <a:p>
            <a:r>
              <a:rPr lang="en-US"/>
              <a:t>S</a:t>
            </a:r>
            <a:r>
              <a:rPr lang="en-KR"/>
              <a:t>etting 1 – CMC Curve (Curricular)</a:t>
            </a:r>
          </a:p>
        </p:txBody>
      </p:sp>
      <p:sp>
        <p:nvSpPr>
          <p:cNvPr id="3" name="Content Placeholder 2">
            <a:extLst>
              <a:ext uri="{FF2B5EF4-FFF2-40B4-BE49-F238E27FC236}">
                <a16:creationId xmlns:a16="http://schemas.microsoft.com/office/drawing/2014/main" id="{9EEF8D79-092C-1A36-A60E-B0760F356BC9}"/>
              </a:ext>
            </a:extLst>
          </p:cNvPr>
          <p:cNvSpPr>
            <a:spLocks noGrp="1"/>
          </p:cNvSpPr>
          <p:nvPr>
            <p:ph idx="1"/>
          </p:nvPr>
        </p:nvSpPr>
        <p:spPr/>
        <p:txBody>
          <a:bodyPr/>
          <a:lstStyle/>
          <a:p>
            <a:endParaRPr lang="en-KR"/>
          </a:p>
        </p:txBody>
      </p:sp>
      <p:pic>
        <p:nvPicPr>
          <p:cNvPr id="4" name="Picture 3" descr="A graph with a line going up&#10;&#10;AI-generated content may be incorrect.">
            <a:extLst>
              <a:ext uri="{FF2B5EF4-FFF2-40B4-BE49-F238E27FC236}">
                <a16:creationId xmlns:a16="http://schemas.microsoft.com/office/drawing/2014/main" id="{9F41449A-AC6C-BE20-71E9-E749E75931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98" y="1142695"/>
            <a:ext cx="9247534" cy="5751830"/>
          </a:xfrm>
          <a:prstGeom prst="rect">
            <a:avLst/>
          </a:prstGeom>
        </p:spPr>
      </p:pic>
    </p:spTree>
    <p:extLst>
      <p:ext uri="{BB962C8B-B14F-4D97-AF65-F5344CB8AC3E}">
        <p14:creationId xmlns:p14="http://schemas.microsoft.com/office/powerpoint/2010/main" val="2554556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0EC3B-5BC8-8914-D147-15E411B9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73B59-3A5C-5E82-A695-8D381669D8B4}"/>
              </a:ext>
            </a:extLst>
          </p:cNvPr>
          <p:cNvSpPr>
            <a:spLocks noGrp="1"/>
          </p:cNvSpPr>
          <p:nvPr>
            <p:ph type="title"/>
          </p:nvPr>
        </p:nvSpPr>
        <p:spPr>
          <a:xfrm>
            <a:off x="641761" y="376283"/>
            <a:ext cx="10636978" cy="766412"/>
          </a:xfrm>
        </p:spPr>
        <p:txBody>
          <a:bodyPr>
            <a:normAutofit fontScale="90000"/>
          </a:bodyPr>
          <a:lstStyle/>
          <a:p>
            <a:r>
              <a:rPr lang="en-US"/>
              <a:t>S</a:t>
            </a:r>
            <a:r>
              <a:rPr lang="en-KR"/>
              <a:t>etting 1 – FPIR vs FNIR Curve (Curricular)</a:t>
            </a:r>
          </a:p>
        </p:txBody>
      </p:sp>
      <p:sp>
        <p:nvSpPr>
          <p:cNvPr id="3" name="Content Placeholder 2">
            <a:extLst>
              <a:ext uri="{FF2B5EF4-FFF2-40B4-BE49-F238E27FC236}">
                <a16:creationId xmlns:a16="http://schemas.microsoft.com/office/drawing/2014/main" id="{756493C7-538B-A271-9A46-73D5695137D1}"/>
              </a:ext>
            </a:extLst>
          </p:cNvPr>
          <p:cNvSpPr>
            <a:spLocks noGrp="1"/>
          </p:cNvSpPr>
          <p:nvPr>
            <p:ph idx="1"/>
          </p:nvPr>
        </p:nvSpPr>
        <p:spPr/>
        <p:txBody>
          <a:bodyPr/>
          <a:lstStyle/>
          <a:p>
            <a:endParaRPr lang="en-KR"/>
          </a:p>
        </p:txBody>
      </p:sp>
      <p:pic>
        <p:nvPicPr>
          <p:cNvPr id="5" name="Picture 4" descr="A graph with a line&#10;&#10;AI-generated content may be incorrect.">
            <a:extLst>
              <a:ext uri="{FF2B5EF4-FFF2-40B4-BE49-F238E27FC236}">
                <a16:creationId xmlns:a16="http://schemas.microsoft.com/office/drawing/2014/main" id="{6F8F8C88-C6AA-37F8-ACC5-B487E795A0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761" y="1106784"/>
            <a:ext cx="9521742" cy="5751216"/>
          </a:xfrm>
          <a:prstGeom prst="rect">
            <a:avLst/>
          </a:prstGeom>
        </p:spPr>
      </p:pic>
    </p:spTree>
    <p:extLst>
      <p:ext uri="{BB962C8B-B14F-4D97-AF65-F5344CB8AC3E}">
        <p14:creationId xmlns:p14="http://schemas.microsoft.com/office/powerpoint/2010/main" val="2588845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F6269-E619-939E-A4A4-DAEBC8CB0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7E955-4DB3-9ACC-C815-0F21E01D5B0E}"/>
              </a:ext>
            </a:extLst>
          </p:cNvPr>
          <p:cNvSpPr>
            <a:spLocks noGrp="1"/>
          </p:cNvSpPr>
          <p:nvPr>
            <p:ph type="title"/>
          </p:nvPr>
        </p:nvSpPr>
        <p:spPr>
          <a:xfrm>
            <a:off x="1125238" y="376283"/>
            <a:ext cx="9692640" cy="766412"/>
          </a:xfrm>
        </p:spPr>
        <p:txBody>
          <a:bodyPr/>
          <a:lstStyle/>
          <a:p>
            <a:r>
              <a:rPr lang="en-US"/>
              <a:t>S</a:t>
            </a:r>
            <a:r>
              <a:rPr lang="en-KR"/>
              <a:t>etting 1 – ROC Curve (Comparison)</a:t>
            </a:r>
          </a:p>
        </p:txBody>
      </p:sp>
      <p:sp>
        <p:nvSpPr>
          <p:cNvPr id="3" name="Content Placeholder 2">
            <a:extLst>
              <a:ext uri="{FF2B5EF4-FFF2-40B4-BE49-F238E27FC236}">
                <a16:creationId xmlns:a16="http://schemas.microsoft.com/office/drawing/2014/main" id="{72DB8270-78E7-C87F-9468-3833A1264E97}"/>
              </a:ext>
            </a:extLst>
          </p:cNvPr>
          <p:cNvSpPr>
            <a:spLocks noGrp="1"/>
          </p:cNvSpPr>
          <p:nvPr>
            <p:ph idx="1"/>
          </p:nvPr>
        </p:nvSpPr>
        <p:spPr/>
        <p:txBody>
          <a:bodyPr/>
          <a:lstStyle/>
          <a:p>
            <a:endParaRPr lang="en-KR"/>
          </a:p>
        </p:txBody>
      </p:sp>
      <p:pic>
        <p:nvPicPr>
          <p:cNvPr id="5" name="Picture 4" descr="A graph with orange and blue lines&#10;&#10;AI-generated content may be incorrect.">
            <a:extLst>
              <a:ext uri="{FF2B5EF4-FFF2-40B4-BE49-F238E27FC236}">
                <a16:creationId xmlns:a16="http://schemas.microsoft.com/office/drawing/2014/main" id="{C5127D9D-9DD5-D1C1-C060-97C7D74AD7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831" y="1190625"/>
            <a:ext cx="9321548" cy="5662322"/>
          </a:xfrm>
          <a:prstGeom prst="rect">
            <a:avLst/>
          </a:prstGeom>
        </p:spPr>
      </p:pic>
    </p:spTree>
    <p:extLst>
      <p:ext uri="{BB962C8B-B14F-4D97-AF65-F5344CB8AC3E}">
        <p14:creationId xmlns:p14="http://schemas.microsoft.com/office/powerpoint/2010/main" val="2420671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A7402-72DF-ABA4-7F64-5046F1067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639EC-A36A-6A58-44D1-EA08574C5068}"/>
              </a:ext>
            </a:extLst>
          </p:cNvPr>
          <p:cNvSpPr>
            <a:spLocks noGrp="1"/>
          </p:cNvSpPr>
          <p:nvPr>
            <p:ph type="title"/>
          </p:nvPr>
        </p:nvSpPr>
        <p:spPr>
          <a:xfrm>
            <a:off x="1125238" y="376283"/>
            <a:ext cx="9692640" cy="766412"/>
          </a:xfrm>
        </p:spPr>
        <p:txBody>
          <a:bodyPr/>
          <a:lstStyle/>
          <a:p>
            <a:r>
              <a:rPr lang="en-US"/>
              <a:t>S</a:t>
            </a:r>
            <a:r>
              <a:rPr lang="en-KR"/>
              <a:t>etting 1 – CMC Curve (Comparison)</a:t>
            </a:r>
          </a:p>
        </p:txBody>
      </p:sp>
      <p:pic>
        <p:nvPicPr>
          <p:cNvPr id="4" name="Picture 3" descr="A graph with lines and dots&#10;&#10;AI-generated content may be incorrect.">
            <a:extLst>
              <a:ext uri="{FF2B5EF4-FFF2-40B4-BE49-F238E27FC236}">
                <a16:creationId xmlns:a16="http://schemas.microsoft.com/office/drawing/2014/main" id="{6A33E213-B644-1211-401D-AEC25BA72D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035" y="1251935"/>
            <a:ext cx="9308061" cy="5606065"/>
          </a:xfrm>
          <a:prstGeom prst="rect">
            <a:avLst/>
          </a:prstGeom>
        </p:spPr>
      </p:pic>
    </p:spTree>
    <p:extLst>
      <p:ext uri="{BB962C8B-B14F-4D97-AF65-F5344CB8AC3E}">
        <p14:creationId xmlns:p14="http://schemas.microsoft.com/office/powerpoint/2010/main" val="32324561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4921F-B6EE-7472-CE5C-524FCC1F9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888F9-A0E0-0EC8-D4BB-A423A3E5F14B}"/>
              </a:ext>
            </a:extLst>
          </p:cNvPr>
          <p:cNvSpPr>
            <a:spLocks noGrp="1"/>
          </p:cNvSpPr>
          <p:nvPr>
            <p:ph type="title"/>
          </p:nvPr>
        </p:nvSpPr>
        <p:spPr>
          <a:xfrm>
            <a:off x="357352" y="376283"/>
            <a:ext cx="10909738" cy="766412"/>
          </a:xfrm>
        </p:spPr>
        <p:txBody>
          <a:bodyPr>
            <a:normAutofit fontScale="90000"/>
          </a:bodyPr>
          <a:lstStyle/>
          <a:p>
            <a:r>
              <a:rPr lang="en-US"/>
              <a:t>S</a:t>
            </a:r>
            <a:r>
              <a:rPr lang="en-KR"/>
              <a:t>etting 1 – FPIR vs FNIR Curve (Comparison)</a:t>
            </a:r>
          </a:p>
        </p:txBody>
      </p:sp>
      <p:pic>
        <p:nvPicPr>
          <p:cNvPr id="3" name="Picture 2" descr="A graph with lines and numbers&#10;&#10;AI-generated content may be incorrect.">
            <a:extLst>
              <a:ext uri="{FF2B5EF4-FFF2-40B4-BE49-F238E27FC236}">
                <a16:creationId xmlns:a16="http://schemas.microsoft.com/office/drawing/2014/main" id="{7D67947B-1A0C-6FA2-F85D-981AE0933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545" y="1142695"/>
            <a:ext cx="9133489" cy="5683842"/>
          </a:xfrm>
          <a:prstGeom prst="rect">
            <a:avLst/>
          </a:prstGeom>
        </p:spPr>
      </p:pic>
    </p:spTree>
    <p:extLst>
      <p:ext uri="{BB962C8B-B14F-4D97-AF65-F5344CB8AC3E}">
        <p14:creationId xmlns:p14="http://schemas.microsoft.com/office/powerpoint/2010/main" val="9827102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80BC7-5508-81E6-1A49-FD0CD526A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B0FF3-241F-39DF-B509-B57EC64803B5}"/>
              </a:ext>
            </a:extLst>
          </p:cNvPr>
          <p:cNvSpPr>
            <a:spLocks noGrp="1"/>
          </p:cNvSpPr>
          <p:nvPr>
            <p:ph type="ctrTitle"/>
          </p:nvPr>
        </p:nvSpPr>
        <p:spPr/>
        <p:txBody>
          <a:bodyPr/>
          <a:lstStyle/>
          <a:p>
            <a:r>
              <a:rPr lang="en-US" dirty="0"/>
              <a:t>Setting 2: 300x4</a:t>
            </a:r>
          </a:p>
        </p:txBody>
      </p:sp>
      <p:sp>
        <p:nvSpPr>
          <p:cNvPr id="3" name="Subtitle 2">
            <a:extLst>
              <a:ext uri="{FF2B5EF4-FFF2-40B4-BE49-F238E27FC236}">
                <a16:creationId xmlns:a16="http://schemas.microsoft.com/office/drawing/2014/main" id="{73175765-E4C9-5E97-7010-29C938322B2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53108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333D3-4714-7A65-4BA9-D342C3CD6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54162-1E22-6995-CD14-EF8DE3316DCC}"/>
              </a:ext>
            </a:extLst>
          </p:cNvPr>
          <p:cNvSpPr>
            <a:spLocks noGrp="1"/>
          </p:cNvSpPr>
          <p:nvPr>
            <p:ph type="title"/>
          </p:nvPr>
        </p:nvSpPr>
        <p:spPr>
          <a:xfrm>
            <a:off x="830317" y="376283"/>
            <a:ext cx="10448422" cy="766412"/>
          </a:xfrm>
        </p:spPr>
        <p:txBody>
          <a:bodyPr>
            <a:normAutofit/>
          </a:bodyPr>
          <a:lstStyle/>
          <a:p>
            <a:r>
              <a:rPr lang="en-US"/>
              <a:t>S</a:t>
            </a:r>
            <a:r>
              <a:rPr lang="en-KR"/>
              <a:t>etting 2 – ROC Curve</a:t>
            </a:r>
          </a:p>
        </p:txBody>
      </p:sp>
      <p:sp>
        <p:nvSpPr>
          <p:cNvPr id="3" name="Content Placeholder 2">
            <a:extLst>
              <a:ext uri="{FF2B5EF4-FFF2-40B4-BE49-F238E27FC236}">
                <a16:creationId xmlns:a16="http://schemas.microsoft.com/office/drawing/2014/main" id="{201CC889-8D31-8D8C-5AA4-5C1DCD2A8CE7}"/>
              </a:ext>
            </a:extLst>
          </p:cNvPr>
          <p:cNvSpPr>
            <a:spLocks noGrp="1"/>
          </p:cNvSpPr>
          <p:nvPr>
            <p:ph idx="1"/>
          </p:nvPr>
        </p:nvSpPr>
        <p:spPr/>
        <p:txBody>
          <a:bodyPr/>
          <a:lstStyle/>
          <a:p>
            <a:endParaRPr lang="en-KR"/>
          </a:p>
        </p:txBody>
      </p:sp>
      <p:pic>
        <p:nvPicPr>
          <p:cNvPr id="4" name="Picture 3" descr="A graph with orange and blue lines&#10;&#10;AI-generated content may be incorrect.">
            <a:extLst>
              <a:ext uri="{FF2B5EF4-FFF2-40B4-BE49-F238E27FC236}">
                <a16:creationId xmlns:a16="http://schemas.microsoft.com/office/drawing/2014/main" id="{AF6849FE-B64B-A231-6B6D-A940C1B9F8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261" y="1121260"/>
            <a:ext cx="9156003" cy="5736740"/>
          </a:xfrm>
          <a:prstGeom prst="rect">
            <a:avLst/>
          </a:prstGeom>
        </p:spPr>
      </p:pic>
    </p:spTree>
    <p:extLst>
      <p:ext uri="{BB962C8B-B14F-4D97-AF65-F5344CB8AC3E}">
        <p14:creationId xmlns:p14="http://schemas.microsoft.com/office/powerpoint/2010/main" val="2485306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3C2EF-8557-A9D2-B84E-FF9EE02045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F2FE8E-8493-0B7D-B943-F173D591EB82}"/>
              </a:ext>
            </a:extLst>
          </p:cNvPr>
          <p:cNvSpPr>
            <a:spLocks noGrp="1"/>
          </p:cNvSpPr>
          <p:nvPr>
            <p:ph type="title"/>
          </p:nvPr>
        </p:nvSpPr>
        <p:spPr>
          <a:xfrm>
            <a:off x="830317" y="376283"/>
            <a:ext cx="10448422" cy="766412"/>
          </a:xfrm>
        </p:spPr>
        <p:txBody>
          <a:bodyPr>
            <a:normAutofit/>
          </a:bodyPr>
          <a:lstStyle/>
          <a:p>
            <a:r>
              <a:rPr lang="en-US"/>
              <a:t>S</a:t>
            </a:r>
            <a:r>
              <a:rPr lang="en-KR"/>
              <a:t>etting 2 – CMC Curve</a:t>
            </a:r>
          </a:p>
        </p:txBody>
      </p:sp>
      <p:sp>
        <p:nvSpPr>
          <p:cNvPr id="3" name="Content Placeholder 2">
            <a:extLst>
              <a:ext uri="{FF2B5EF4-FFF2-40B4-BE49-F238E27FC236}">
                <a16:creationId xmlns:a16="http://schemas.microsoft.com/office/drawing/2014/main" id="{042CA4FC-1A35-7301-B737-44CB03200112}"/>
              </a:ext>
            </a:extLst>
          </p:cNvPr>
          <p:cNvSpPr>
            <a:spLocks noGrp="1"/>
          </p:cNvSpPr>
          <p:nvPr>
            <p:ph idx="1"/>
          </p:nvPr>
        </p:nvSpPr>
        <p:spPr/>
        <p:txBody>
          <a:bodyPr/>
          <a:lstStyle/>
          <a:p>
            <a:endParaRPr lang="en-KR"/>
          </a:p>
        </p:txBody>
      </p:sp>
      <p:pic>
        <p:nvPicPr>
          <p:cNvPr id="5" name="Picture 4" descr="A graph with a line graph&#10;&#10;AI-generated content may be incorrect.">
            <a:extLst>
              <a:ext uri="{FF2B5EF4-FFF2-40B4-BE49-F238E27FC236}">
                <a16:creationId xmlns:a16="http://schemas.microsoft.com/office/drawing/2014/main" id="{3F760D4C-7CDF-7101-7654-400AD932AC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317" y="1129108"/>
            <a:ext cx="9361254" cy="5728892"/>
          </a:xfrm>
          <a:prstGeom prst="rect">
            <a:avLst/>
          </a:prstGeom>
        </p:spPr>
      </p:pic>
    </p:spTree>
    <p:extLst>
      <p:ext uri="{BB962C8B-B14F-4D97-AF65-F5344CB8AC3E}">
        <p14:creationId xmlns:p14="http://schemas.microsoft.com/office/powerpoint/2010/main" val="4175641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0879C-867E-E91D-4158-04D1EA915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0382A-4940-521F-5C13-5D47239F58C8}"/>
              </a:ext>
            </a:extLst>
          </p:cNvPr>
          <p:cNvSpPr>
            <a:spLocks noGrp="1"/>
          </p:cNvSpPr>
          <p:nvPr>
            <p:ph type="title"/>
          </p:nvPr>
        </p:nvSpPr>
        <p:spPr>
          <a:xfrm>
            <a:off x="830317" y="376283"/>
            <a:ext cx="10448422" cy="766412"/>
          </a:xfrm>
        </p:spPr>
        <p:txBody>
          <a:bodyPr>
            <a:normAutofit/>
          </a:bodyPr>
          <a:lstStyle/>
          <a:p>
            <a:r>
              <a:rPr lang="en-US"/>
              <a:t>S</a:t>
            </a:r>
            <a:r>
              <a:rPr lang="en-KR"/>
              <a:t>etting 2 – FPIR vs FNIR Curve</a:t>
            </a:r>
          </a:p>
        </p:txBody>
      </p:sp>
      <p:sp>
        <p:nvSpPr>
          <p:cNvPr id="3" name="Content Placeholder 2">
            <a:extLst>
              <a:ext uri="{FF2B5EF4-FFF2-40B4-BE49-F238E27FC236}">
                <a16:creationId xmlns:a16="http://schemas.microsoft.com/office/drawing/2014/main" id="{1A189F99-0BCD-A9AB-E5DD-8203FEAA6EBC}"/>
              </a:ext>
            </a:extLst>
          </p:cNvPr>
          <p:cNvSpPr>
            <a:spLocks noGrp="1"/>
          </p:cNvSpPr>
          <p:nvPr>
            <p:ph idx="1"/>
          </p:nvPr>
        </p:nvSpPr>
        <p:spPr/>
        <p:txBody>
          <a:bodyPr/>
          <a:lstStyle/>
          <a:p>
            <a:endParaRPr lang="en-KR"/>
          </a:p>
        </p:txBody>
      </p:sp>
      <p:pic>
        <p:nvPicPr>
          <p:cNvPr id="4" name="Picture 3" descr="A graph with lines and numbers&#10;&#10;AI-generated content may be incorrect.">
            <a:extLst>
              <a:ext uri="{FF2B5EF4-FFF2-40B4-BE49-F238E27FC236}">
                <a16:creationId xmlns:a16="http://schemas.microsoft.com/office/drawing/2014/main" id="{CAB07E91-52B5-4189-11B1-625391704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121" y="1146815"/>
            <a:ext cx="9121111" cy="5715305"/>
          </a:xfrm>
          <a:prstGeom prst="rect">
            <a:avLst/>
          </a:prstGeom>
        </p:spPr>
      </p:pic>
    </p:spTree>
    <p:extLst>
      <p:ext uri="{BB962C8B-B14F-4D97-AF65-F5344CB8AC3E}">
        <p14:creationId xmlns:p14="http://schemas.microsoft.com/office/powerpoint/2010/main" val="3379326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2F52E-C78F-EFBB-F078-28DAA6D9C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B5F14-3685-9E09-1729-74310F218AFA}"/>
              </a:ext>
            </a:extLst>
          </p:cNvPr>
          <p:cNvSpPr>
            <a:spLocks noGrp="1"/>
          </p:cNvSpPr>
          <p:nvPr>
            <p:ph type="ctrTitle"/>
          </p:nvPr>
        </p:nvSpPr>
        <p:spPr/>
        <p:txBody>
          <a:bodyPr/>
          <a:lstStyle/>
          <a:p>
            <a:r>
              <a:rPr lang="en-US" dirty="0"/>
              <a:t>Limitations and Improvements</a:t>
            </a:r>
          </a:p>
        </p:txBody>
      </p:sp>
      <p:sp>
        <p:nvSpPr>
          <p:cNvPr id="3" name="Subtitle 2">
            <a:extLst>
              <a:ext uri="{FF2B5EF4-FFF2-40B4-BE49-F238E27FC236}">
                <a16:creationId xmlns:a16="http://schemas.microsoft.com/office/drawing/2014/main" id="{FA712758-C32D-7ADE-3277-AB4E502B8EE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74639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F1702-141C-4B3E-72CA-B2BDFAB0AD2A}"/>
              </a:ext>
            </a:extLst>
          </p:cNvPr>
          <p:cNvSpPr>
            <a:spLocks noGrp="1"/>
          </p:cNvSpPr>
          <p:nvPr>
            <p:ph type="title"/>
          </p:nvPr>
        </p:nvSpPr>
        <p:spPr/>
        <p:txBody>
          <a:bodyPr/>
          <a:lstStyle/>
          <a:p>
            <a:r>
              <a:rPr lang="en-US"/>
              <a:t>L</a:t>
            </a:r>
            <a:r>
              <a:rPr lang="en-KR"/>
              <a:t>imitations</a:t>
            </a:r>
          </a:p>
        </p:txBody>
      </p:sp>
      <p:sp>
        <p:nvSpPr>
          <p:cNvPr id="3" name="Content Placeholder 2">
            <a:extLst>
              <a:ext uri="{FF2B5EF4-FFF2-40B4-BE49-F238E27FC236}">
                <a16:creationId xmlns:a16="http://schemas.microsoft.com/office/drawing/2014/main" id="{96C84553-17F0-F8F5-85EB-FA4E6EB946AF}"/>
              </a:ext>
            </a:extLst>
          </p:cNvPr>
          <p:cNvSpPr>
            <a:spLocks noGrp="1"/>
          </p:cNvSpPr>
          <p:nvPr>
            <p:ph idx="1"/>
          </p:nvPr>
        </p:nvSpPr>
        <p:spPr/>
        <p:txBody>
          <a:bodyPr>
            <a:normAutofit/>
          </a:bodyPr>
          <a:lstStyle/>
          <a:p>
            <a:r>
              <a:rPr lang="en-US" sz="2400"/>
              <a:t>Limited c</a:t>
            </a:r>
            <a:r>
              <a:rPr lang="en-KR" sz="2400"/>
              <a:t>omputational power </a:t>
            </a:r>
            <a:r>
              <a:rPr lang="en-KR" sz="2400" b="0" i="0">
                <a:solidFill>
                  <a:srgbClr val="040C28"/>
                </a:solidFill>
                <a:effectLst/>
              </a:rPr>
              <a:t>→ not </a:t>
            </a:r>
            <a:r>
              <a:rPr lang="en-KR" sz="2400">
                <a:solidFill>
                  <a:srgbClr val="040C28"/>
                </a:solidFill>
              </a:rPr>
              <a:t>l</a:t>
            </a:r>
            <a:r>
              <a:rPr lang="en-KR" sz="2400" b="0" i="0">
                <a:solidFill>
                  <a:srgbClr val="040C28"/>
                </a:solidFill>
                <a:effectLst/>
              </a:rPr>
              <a:t>arge </a:t>
            </a:r>
            <a:r>
              <a:rPr lang="en-KR" sz="2400">
                <a:solidFill>
                  <a:srgbClr val="040C28"/>
                </a:solidFill>
              </a:rPr>
              <a:t>e</a:t>
            </a:r>
            <a:r>
              <a:rPr lang="en-KR" sz="2400" b="0" i="0">
                <a:solidFill>
                  <a:srgbClr val="040C28"/>
                </a:solidFill>
                <a:effectLst/>
              </a:rPr>
              <a:t>nough Test Images</a:t>
            </a:r>
          </a:p>
          <a:p>
            <a:r>
              <a:rPr lang="en-KR" sz="2400" b="0" i="0">
                <a:solidFill>
                  <a:srgbClr val="040C28"/>
                </a:solidFill>
                <a:effectLst/>
              </a:rPr>
              <a:t>No distinct gaps between</a:t>
            </a:r>
            <a:r>
              <a:rPr lang="en-KR" sz="2400">
                <a:solidFill>
                  <a:srgbClr val="040C28"/>
                </a:solidFill>
              </a:rPr>
              <a:t> the results from the two algorithms</a:t>
            </a:r>
            <a:endParaRPr lang="en-KR" sz="2400" b="0" i="0">
              <a:solidFill>
                <a:srgbClr val="040C28"/>
              </a:solidFill>
              <a:effectLst/>
            </a:endParaRPr>
          </a:p>
          <a:p>
            <a:endParaRPr lang="en-KR" sz="2400"/>
          </a:p>
        </p:txBody>
      </p:sp>
    </p:spTree>
    <p:extLst>
      <p:ext uri="{BB962C8B-B14F-4D97-AF65-F5344CB8AC3E}">
        <p14:creationId xmlns:p14="http://schemas.microsoft.com/office/powerpoint/2010/main" val="17698430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DBC8-C1A0-6C88-9A36-F35ED290926C}"/>
              </a:ext>
            </a:extLst>
          </p:cNvPr>
          <p:cNvSpPr>
            <a:spLocks noGrp="1"/>
          </p:cNvSpPr>
          <p:nvPr>
            <p:ph type="title"/>
          </p:nvPr>
        </p:nvSpPr>
        <p:spPr/>
        <p:txBody>
          <a:bodyPr/>
          <a:lstStyle/>
          <a:p>
            <a:r>
              <a:rPr lang="en-KR"/>
              <a:t>Improvements</a:t>
            </a:r>
          </a:p>
        </p:txBody>
      </p:sp>
      <p:graphicFrame>
        <p:nvGraphicFramePr>
          <p:cNvPr id="5" name="Table 4">
            <a:extLst>
              <a:ext uri="{FF2B5EF4-FFF2-40B4-BE49-F238E27FC236}">
                <a16:creationId xmlns:a16="http://schemas.microsoft.com/office/drawing/2014/main" id="{981765EC-365B-651E-04F8-19B51DA7D0A8}"/>
              </a:ext>
            </a:extLst>
          </p:cNvPr>
          <p:cNvGraphicFramePr>
            <a:graphicFrameLocks noGrp="1"/>
          </p:cNvGraphicFramePr>
          <p:nvPr>
            <p:extLst>
              <p:ext uri="{D42A27DB-BD31-4B8C-83A1-F6EECF244321}">
                <p14:modId xmlns:p14="http://schemas.microsoft.com/office/powerpoint/2010/main" val="1803918543"/>
              </p:ext>
            </p:extLst>
          </p:nvPr>
        </p:nvGraphicFramePr>
        <p:xfrm>
          <a:off x="1548524" y="2058801"/>
          <a:ext cx="8128000" cy="4096933"/>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00297848"/>
                    </a:ext>
                  </a:extLst>
                </a:gridCol>
                <a:gridCol w="4064000">
                  <a:extLst>
                    <a:ext uri="{9D8B030D-6E8A-4147-A177-3AD203B41FA5}">
                      <a16:colId xmlns:a16="http://schemas.microsoft.com/office/drawing/2014/main" val="2461333245"/>
                    </a:ext>
                  </a:extLst>
                </a:gridCol>
              </a:tblGrid>
              <a:tr h="0">
                <a:tc>
                  <a:txBody>
                    <a:bodyPr/>
                    <a:lstStyle/>
                    <a:p>
                      <a:pPr algn="ctr"/>
                      <a:r>
                        <a:rPr lang="en-US"/>
                        <a:t>Improvement</a:t>
                      </a:r>
                      <a:endParaRPr lang="en-KR"/>
                    </a:p>
                  </a:txBody>
                  <a:tcPr/>
                </a:tc>
                <a:tc>
                  <a:txBody>
                    <a:bodyPr/>
                    <a:lstStyle/>
                    <a:p>
                      <a:pPr algn="ctr"/>
                      <a:r>
                        <a:rPr lang="en-KR"/>
                        <a:t>Expected Result</a:t>
                      </a:r>
                    </a:p>
                  </a:txBody>
                  <a:tcPr/>
                </a:tc>
                <a:extLst>
                  <a:ext uri="{0D108BD9-81ED-4DB2-BD59-A6C34878D82A}">
                    <a16:rowId xmlns:a16="http://schemas.microsoft.com/office/drawing/2014/main" val="2933948653"/>
                  </a:ext>
                </a:extLst>
              </a:tr>
              <a:tr h="6411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A</a:t>
                      </a:r>
                      <a:r>
                        <a:rPr lang="en-KR" sz="1800"/>
                        <a:t>dopt the larger number of images</a:t>
                      </a:r>
                    </a:p>
                    <a:p>
                      <a:endParaRPr lang="en-KR"/>
                    </a:p>
                  </a:txBody>
                  <a:tcPr/>
                </a:tc>
                <a:tc>
                  <a:txBody>
                    <a:bodyPr/>
                    <a:lstStyle/>
                    <a:p>
                      <a:r>
                        <a:rPr lang="en-US"/>
                        <a:t>M</a:t>
                      </a:r>
                      <a:r>
                        <a:rPr lang="en-KR"/>
                        <a:t>ore stable results</a:t>
                      </a:r>
                    </a:p>
                  </a:txBody>
                  <a:tcPr/>
                </a:tc>
                <a:extLst>
                  <a:ext uri="{0D108BD9-81ED-4DB2-BD59-A6C34878D82A}">
                    <a16:rowId xmlns:a16="http://schemas.microsoft.com/office/drawing/2014/main" val="2535800703"/>
                  </a:ext>
                </a:extLst>
              </a:tr>
              <a:tr h="13032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KR" sz="1800"/>
                        <a:t>Try with less curated and aligned datasets</a:t>
                      </a:r>
                    </a:p>
                    <a:p>
                      <a:endParaRPr lang="en-KR"/>
                    </a:p>
                  </a:txBody>
                  <a:tcPr/>
                </a:tc>
                <a:tc>
                  <a:txBody>
                    <a:bodyPr/>
                    <a:lstStyle/>
                    <a:p>
                      <a:r>
                        <a:rPr lang="en-US"/>
                        <a:t>B</a:t>
                      </a:r>
                      <a:r>
                        <a:rPr lang="en-KR"/>
                        <a:t>etter separation between models</a:t>
                      </a:r>
                    </a:p>
                    <a:p>
                      <a:endParaRPr lang="en-KR"/>
                    </a:p>
                    <a:p>
                      <a:r>
                        <a:rPr lang="en-KR"/>
                        <a:t>CurricularFace may perform better after this improvement</a:t>
                      </a:r>
                    </a:p>
                  </a:txBody>
                  <a:tcPr/>
                </a:tc>
                <a:extLst>
                  <a:ext uri="{0D108BD9-81ED-4DB2-BD59-A6C34878D82A}">
                    <a16:rowId xmlns:a16="http://schemas.microsoft.com/office/drawing/2014/main" val="1830368950"/>
                  </a:ext>
                </a:extLst>
              </a:tr>
              <a:tr h="693683">
                <a:tc>
                  <a:txBody>
                    <a:bodyPr/>
                    <a:lstStyle/>
                    <a:p>
                      <a:r>
                        <a:rPr lang="en-US"/>
                        <a:t>I</a:t>
                      </a:r>
                      <a:r>
                        <a:rPr lang="en-KR"/>
                        <a:t>nclude more varied lighting / pose conditions</a:t>
                      </a:r>
                    </a:p>
                    <a:p>
                      <a:endParaRPr lang="en-KR"/>
                    </a:p>
                  </a:txBody>
                  <a:tcPr/>
                </a:tc>
                <a:tc>
                  <a:txBody>
                    <a:bodyPr/>
                    <a:lstStyle/>
                    <a:p>
                      <a:r>
                        <a:rPr lang="en-US"/>
                        <a:t>C</a:t>
                      </a:r>
                      <a:r>
                        <a:rPr lang="en-KR"/>
                        <a:t>an evaluate robustness of models</a:t>
                      </a:r>
                    </a:p>
                  </a:txBody>
                  <a:tcPr/>
                </a:tc>
                <a:extLst>
                  <a:ext uri="{0D108BD9-81ED-4DB2-BD59-A6C34878D82A}">
                    <a16:rowId xmlns:a16="http://schemas.microsoft.com/office/drawing/2014/main" val="3839501486"/>
                  </a:ext>
                </a:extLst>
              </a:tr>
              <a:tr h="872359">
                <a:tc>
                  <a:txBody>
                    <a:bodyPr/>
                    <a:lstStyle/>
                    <a:p>
                      <a:r>
                        <a:rPr lang="en-US"/>
                        <a:t>Evaluate on different metrics (inference time, memory usage)</a:t>
                      </a:r>
                      <a:endParaRPr lang="en-K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Get a more practical comparison beyond just accuracy</a:t>
                      </a:r>
                      <a:endParaRPr lang="en-KR"/>
                    </a:p>
                  </a:txBody>
                  <a:tcPr/>
                </a:tc>
                <a:extLst>
                  <a:ext uri="{0D108BD9-81ED-4DB2-BD59-A6C34878D82A}">
                    <a16:rowId xmlns:a16="http://schemas.microsoft.com/office/drawing/2014/main" val="526817559"/>
                  </a:ext>
                </a:extLst>
              </a:tr>
            </a:tbl>
          </a:graphicData>
        </a:graphic>
      </p:graphicFrame>
    </p:spTree>
    <p:extLst>
      <p:ext uri="{BB962C8B-B14F-4D97-AF65-F5344CB8AC3E}">
        <p14:creationId xmlns:p14="http://schemas.microsoft.com/office/powerpoint/2010/main" val="23642200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77C49-7213-881A-FFFC-1F4336B30230}"/>
              </a:ext>
            </a:extLst>
          </p:cNvPr>
          <p:cNvSpPr>
            <a:spLocks noGrp="1"/>
          </p:cNvSpPr>
          <p:nvPr>
            <p:ph type="title"/>
          </p:nvPr>
        </p:nvSpPr>
        <p:spPr>
          <a:xfrm>
            <a:off x="4039079" y="164239"/>
            <a:ext cx="3048756" cy="746191"/>
          </a:xfrm>
        </p:spPr>
        <p:txBody>
          <a:bodyPr/>
          <a:lstStyle/>
          <a:p>
            <a:pPr algn="ctr"/>
            <a:r>
              <a:rPr lang="en-US" dirty="0"/>
              <a:t>References</a:t>
            </a:r>
            <a:endParaRPr lang="en-KR" dirty="0"/>
          </a:p>
        </p:txBody>
      </p:sp>
      <p:sp>
        <p:nvSpPr>
          <p:cNvPr id="3" name="Content Placeholder 2">
            <a:extLst>
              <a:ext uri="{FF2B5EF4-FFF2-40B4-BE49-F238E27FC236}">
                <a16:creationId xmlns:a16="http://schemas.microsoft.com/office/drawing/2014/main" id="{492ED90C-344A-9ADB-55DB-79D6A61DC7E6}"/>
              </a:ext>
            </a:extLst>
          </p:cNvPr>
          <p:cNvSpPr>
            <a:spLocks noGrp="1"/>
          </p:cNvSpPr>
          <p:nvPr>
            <p:ph idx="1"/>
          </p:nvPr>
        </p:nvSpPr>
        <p:spPr>
          <a:xfrm>
            <a:off x="203889" y="915660"/>
            <a:ext cx="10830979" cy="5774576"/>
          </a:xfrm>
        </p:spPr>
        <p:txBody>
          <a:bodyPr vert="horz" lIns="91440" tIns="45720" rIns="91440" bIns="45720" rtlCol="0" anchor="t">
            <a:noAutofit/>
          </a:bodyPr>
          <a:lstStyle/>
          <a:p>
            <a:pPr>
              <a:lnSpc>
                <a:spcPct val="100000"/>
              </a:lnSpc>
              <a:spcBef>
                <a:spcPts val="200"/>
              </a:spcBef>
            </a:pPr>
            <a:r>
              <a:rPr lang="en-US" sz="1100" dirty="0">
                <a:hlinkClick r:id="rId2"/>
              </a:rPr>
              <a:t>https://www.youtube.com/watch?v=y-D1tReryGA</a:t>
            </a:r>
            <a:endParaRPr lang="en-US" sz="1100" dirty="0"/>
          </a:p>
          <a:p>
            <a:pPr>
              <a:lnSpc>
                <a:spcPct val="100000"/>
              </a:lnSpc>
              <a:spcBef>
                <a:spcPts val="200"/>
              </a:spcBef>
            </a:pPr>
            <a:r>
              <a:rPr lang="en-US" sz="1100" dirty="0">
                <a:latin typeface="Times New Roman"/>
                <a:cs typeface="Times New Roman"/>
              </a:rPr>
              <a:t>[1]</a:t>
            </a:r>
            <a:r>
              <a:rPr lang="en-US" sz="1100" dirty="0">
                <a:latin typeface="Calibri"/>
                <a:ea typeface="Calibri"/>
                <a:cs typeface="Calibri"/>
              </a:rPr>
              <a:t> </a:t>
            </a:r>
            <a:r>
              <a:rPr lang="en-US" sz="1100" dirty="0">
                <a:latin typeface="Times New Roman"/>
                <a:cs typeface="Times New Roman"/>
              </a:rPr>
              <a:t>“Face Recognition Terminals,” </a:t>
            </a:r>
            <a:r>
              <a:rPr lang="en-US" sz="1100" i="1" dirty="0">
                <a:latin typeface="Times New Roman"/>
                <a:cs typeface="Times New Roman"/>
              </a:rPr>
              <a:t>Hikvision</a:t>
            </a:r>
            <a:r>
              <a:rPr lang="en-US" sz="1100" dirty="0">
                <a:latin typeface="Times New Roman"/>
                <a:cs typeface="Times New Roman"/>
              </a:rPr>
              <a:t>, Feb. 08, 2023. Source: [Online]. Available: </a:t>
            </a:r>
            <a:r>
              <a:rPr lang="en-US" sz="1100" dirty="0">
                <a:latin typeface="Times New Roman"/>
                <a:cs typeface="Times New Roman"/>
                <a:hlinkClick r:id="rId3"/>
              </a:rPr>
              <a:t>https://www.hikvision.com/hk/products/Access-Control-Products/Face-Recognition-Terminals/</a:t>
            </a:r>
            <a:r>
              <a:rPr lang="en-US" sz="1100" dirty="0">
                <a:latin typeface="Times New Roman"/>
                <a:cs typeface="Times New Roman"/>
              </a:rPr>
              <a:t>.</a:t>
            </a:r>
          </a:p>
          <a:p>
            <a:pPr>
              <a:lnSpc>
                <a:spcPct val="100000"/>
              </a:lnSpc>
              <a:spcBef>
                <a:spcPts val="200"/>
              </a:spcBef>
            </a:pPr>
            <a:r>
              <a:rPr lang="en-US" sz="1100" dirty="0">
                <a:latin typeface="Times New Roman"/>
                <a:cs typeface="Times New Roman"/>
              </a:rPr>
              <a:t>[2]</a:t>
            </a:r>
            <a:r>
              <a:rPr lang="en-US" sz="1100" dirty="0">
                <a:latin typeface="Calibri"/>
                <a:ea typeface="Calibri"/>
                <a:cs typeface="Calibri"/>
              </a:rPr>
              <a:t> </a:t>
            </a:r>
            <a:r>
              <a:rPr lang="en-US" sz="1100" dirty="0">
                <a:latin typeface="Times New Roman"/>
                <a:cs typeface="Times New Roman"/>
              </a:rPr>
              <a:t>“Flight Token, Passenger Guide,” </a:t>
            </a:r>
            <a:r>
              <a:rPr lang="en-US" sz="1100" i="1" dirty="0">
                <a:latin typeface="Times New Roman"/>
                <a:cs typeface="Times New Roman"/>
              </a:rPr>
              <a:t>Hong Kong International Airport</a:t>
            </a:r>
            <a:r>
              <a:rPr lang="en-US" sz="1100" dirty="0">
                <a:latin typeface="Times New Roman"/>
                <a:cs typeface="Times New Roman"/>
              </a:rPr>
              <a:t>. </a:t>
            </a:r>
            <a:r>
              <a:rPr lang="en-US" sz="1100" dirty="0">
                <a:latin typeface="Times New Roman"/>
                <a:cs typeface="Times New Roman"/>
                <a:hlinkClick r:id="rId4"/>
              </a:rPr>
              <a:t>https://www.hongkongairport.com/en/passenger-guide/flight-token.page</a:t>
            </a:r>
            <a:r>
              <a:rPr lang="en-US" sz="1100" dirty="0">
                <a:latin typeface="Times New Roman"/>
                <a:cs typeface="Times New Roman"/>
              </a:rPr>
              <a:t>.</a:t>
            </a:r>
          </a:p>
          <a:p>
            <a:pPr>
              <a:lnSpc>
                <a:spcPct val="100000"/>
              </a:lnSpc>
              <a:spcBef>
                <a:spcPts val="200"/>
              </a:spcBef>
            </a:pPr>
            <a:r>
              <a:rPr lang="en-US" sz="1100" dirty="0">
                <a:latin typeface="Times New Roman"/>
                <a:cs typeface="Times New Roman"/>
              </a:rPr>
              <a:t>[3]</a:t>
            </a:r>
            <a:r>
              <a:rPr lang="en-US" sz="1100" dirty="0">
                <a:latin typeface="Calibri"/>
                <a:ea typeface="Calibri"/>
                <a:cs typeface="Calibri"/>
              </a:rPr>
              <a:t> </a:t>
            </a:r>
            <a:r>
              <a:rPr lang="en-US" sz="1100" dirty="0">
                <a:latin typeface="Times New Roman"/>
                <a:cs typeface="Times New Roman"/>
              </a:rPr>
              <a:t>“What are the requirements for a perfect working biometric facial recognition?”, </a:t>
            </a:r>
            <a:r>
              <a:rPr lang="en-US" sz="1100" i="1" err="1">
                <a:latin typeface="Times New Roman"/>
                <a:cs typeface="Times New Roman"/>
              </a:rPr>
              <a:t>Modivision</a:t>
            </a:r>
            <a:r>
              <a:rPr lang="en-US" sz="1100" dirty="0">
                <a:latin typeface="Times New Roman"/>
                <a:cs typeface="Times New Roman"/>
              </a:rPr>
              <a:t>. Source: [Online]. Available: </a:t>
            </a:r>
            <a:r>
              <a:rPr lang="en-US" sz="1100" dirty="0">
                <a:latin typeface="Times New Roman"/>
                <a:cs typeface="Times New Roman"/>
                <a:hlinkClick r:id="rId5"/>
              </a:rPr>
              <a:t>https://www.modivision.net/wp-content/uploads/2019/08/Requirements.pdf</a:t>
            </a:r>
            <a:r>
              <a:rPr lang="en-US" sz="1100" dirty="0">
                <a:latin typeface="Times New Roman"/>
                <a:cs typeface="Times New Roman"/>
              </a:rPr>
              <a:t>.</a:t>
            </a:r>
          </a:p>
          <a:p>
            <a:pPr>
              <a:lnSpc>
                <a:spcPct val="100000"/>
              </a:lnSpc>
              <a:spcBef>
                <a:spcPts val="200"/>
              </a:spcBef>
            </a:pPr>
            <a:r>
              <a:rPr lang="en-US" sz="1100" dirty="0">
                <a:latin typeface="Times New Roman"/>
                <a:cs typeface="Times New Roman"/>
              </a:rPr>
              <a:t>[4]</a:t>
            </a:r>
            <a:r>
              <a:rPr lang="en-US" sz="1100" dirty="0">
                <a:latin typeface="Calibri"/>
                <a:ea typeface="Calibri"/>
                <a:cs typeface="Calibri"/>
              </a:rPr>
              <a:t> </a:t>
            </a:r>
            <a:r>
              <a:rPr lang="en-US" sz="1100" dirty="0">
                <a:latin typeface="Times New Roman"/>
                <a:cs typeface="Times New Roman"/>
              </a:rPr>
              <a:t>G. B. Huang, M. Ramesh, T. Berg, and E. Learned-Miller, October 2007, “Labeled Faces in the Wild: A Database for Studying Face Recognition in Unconstrained Environments”. University of Massachusetts, Amherst, Technical Report 07-49. Source: [Online]. Available: </a:t>
            </a:r>
            <a:r>
              <a:rPr lang="en-US" sz="1100" dirty="0">
                <a:latin typeface="Times New Roman"/>
                <a:cs typeface="Times New Roman"/>
                <a:hlinkClick r:id="rId6"/>
              </a:rPr>
              <a:t>https://www.kaggle.com/datasets/jessicali9530/lfw-dataset</a:t>
            </a:r>
            <a:r>
              <a:rPr lang="en-US" sz="1100" dirty="0">
                <a:latin typeface="Times New Roman"/>
                <a:cs typeface="Times New Roman"/>
              </a:rPr>
              <a:t>.</a:t>
            </a:r>
          </a:p>
          <a:p>
            <a:pPr>
              <a:lnSpc>
                <a:spcPct val="100000"/>
              </a:lnSpc>
              <a:spcBef>
                <a:spcPts val="200"/>
              </a:spcBef>
            </a:pPr>
            <a:r>
              <a:rPr lang="en-US" sz="1100" dirty="0">
                <a:latin typeface="Times New Roman"/>
                <a:cs typeface="Times New Roman"/>
              </a:rPr>
              <a:t>[5]</a:t>
            </a:r>
            <a:r>
              <a:rPr lang="en-US" sz="1100" dirty="0">
                <a:latin typeface="Calibri"/>
                <a:ea typeface="Calibri"/>
                <a:cs typeface="Calibri"/>
              </a:rPr>
              <a:t> </a:t>
            </a:r>
            <a:r>
              <a:rPr lang="en-US" sz="1100" dirty="0">
                <a:latin typeface="Times New Roman"/>
                <a:cs typeface="Times New Roman"/>
              </a:rPr>
              <a:t>I. Chan, </a:t>
            </a:r>
            <a:r>
              <a:rPr lang="en-US" sz="1100" i="1" dirty="0">
                <a:latin typeface="Times New Roman"/>
                <a:cs typeface="Times New Roman"/>
              </a:rPr>
              <a:t>Hong Kong adopts facial recognition tech at Sha Tau Kok border checkpoint</a:t>
            </a:r>
            <a:r>
              <a:rPr lang="en-US" sz="1100" dirty="0">
                <a:latin typeface="Times New Roman"/>
                <a:cs typeface="Times New Roman"/>
              </a:rPr>
              <a:t>, Hong Kong Free Press HKFP, Dec. 24, 2024. [Online]. Available: </a:t>
            </a:r>
            <a:r>
              <a:rPr lang="en-US" sz="1100" dirty="0">
                <a:latin typeface="Times New Roman"/>
                <a:cs typeface="Times New Roman"/>
                <a:hlinkClick r:id="rId7"/>
              </a:rPr>
              <a:t>https://hongkongfp.com/2024/12/24/hong-kong-adopts-facial-recognition-tech-at-sha-tau-kok-border-checkpoint</a:t>
            </a:r>
            <a:r>
              <a:rPr lang="en-US" sz="1100" dirty="0">
                <a:latin typeface="Times New Roman"/>
                <a:cs typeface="Times New Roman"/>
              </a:rPr>
              <a:t>.</a:t>
            </a:r>
          </a:p>
          <a:p>
            <a:pPr>
              <a:lnSpc>
                <a:spcPct val="100000"/>
              </a:lnSpc>
              <a:spcBef>
                <a:spcPts val="200"/>
              </a:spcBef>
            </a:pPr>
            <a:r>
              <a:rPr lang="en-US" sz="1100" dirty="0">
                <a:latin typeface="Times New Roman"/>
                <a:cs typeface="Times New Roman"/>
              </a:rPr>
              <a:t>[6]</a:t>
            </a:r>
            <a:r>
              <a:rPr lang="en-US" sz="1100" dirty="0">
                <a:latin typeface="Calibri"/>
                <a:ea typeface="Calibri"/>
                <a:cs typeface="Calibri"/>
              </a:rPr>
              <a:t> </a:t>
            </a:r>
            <a:r>
              <a:rPr lang="en-US" sz="1100" dirty="0">
                <a:latin typeface="Times New Roman"/>
                <a:cs typeface="Times New Roman"/>
              </a:rPr>
              <a:t>I. Kemelmacher-</a:t>
            </a:r>
            <a:r>
              <a:rPr lang="en-US" sz="1100" err="1">
                <a:latin typeface="Times New Roman"/>
                <a:cs typeface="Times New Roman"/>
              </a:rPr>
              <a:t>Shlizerman</a:t>
            </a:r>
            <a:r>
              <a:rPr lang="en-US" sz="1100" dirty="0">
                <a:latin typeface="Times New Roman"/>
                <a:cs typeface="Times New Roman"/>
              </a:rPr>
              <a:t>, S. M. Seitz, D. Miller, and E. Brossard, “The </a:t>
            </a:r>
            <a:r>
              <a:rPr lang="en-US" sz="1100" err="1">
                <a:latin typeface="Times New Roman"/>
                <a:cs typeface="Times New Roman"/>
              </a:rPr>
              <a:t>MegaFace</a:t>
            </a:r>
            <a:r>
              <a:rPr lang="en-US" sz="1100" dirty="0">
                <a:latin typeface="Times New Roman"/>
                <a:cs typeface="Times New Roman"/>
              </a:rPr>
              <a:t> Benchmark: 1 Million Faces for Recognition at Scale,” </a:t>
            </a:r>
            <a:r>
              <a:rPr lang="en-US" sz="1100" i="1" dirty="0">
                <a:latin typeface="Times New Roman"/>
                <a:cs typeface="Times New Roman"/>
              </a:rPr>
              <a:t>2016 IEEE Conference on Computer Vision and Pattern Recognition</a:t>
            </a:r>
            <a:r>
              <a:rPr lang="en-US" sz="1100" dirty="0">
                <a:latin typeface="Times New Roman"/>
                <a:cs typeface="Times New Roman"/>
              </a:rPr>
              <a:t>, Jun. 2016, doi:10.1109/CVPR.2016.527.</a:t>
            </a:r>
          </a:p>
          <a:p>
            <a:pPr>
              <a:lnSpc>
                <a:spcPct val="100000"/>
              </a:lnSpc>
              <a:spcBef>
                <a:spcPts val="200"/>
              </a:spcBef>
            </a:pPr>
            <a:r>
              <a:rPr lang="en-US" sz="1100" dirty="0">
                <a:latin typeface="Times New Roman"/>
                <a:cs typeface="Times New Roman"/>
              </a:rPr>
              <a:t>[7]</a:t>
            </a:r>
            <a:r>
              <a:rPr lang="en-US" sz="1100" dirty="0">
                <a:latin typeface="Calibri"/>
                <a:ea typeface="Calibri"/>
                <a:cs typeface="Calibri"/>
              </a:rPr>
              <a:t> </a:t>
            </a:r>
            <a:r>
              <a:rPr lang="en-US" sz="1100" i="1" dirty="0">
                <a:latin typeface="Times New Roman"/>
                <a:cs typeface="Times New Roman"/>
              </a:rPr>
              <a:t>Information technology — Biometric data interchange formats</a:t>
            </a:r>
            <a:r>
              <a:rPr lang="en-US" sz="1100" dirty="0">
                <a:latin typeface="Times New Roman"/>
                <a:cs typeface="Times New Roman"/>
              </a:rPr>
              <a:t>, ISO/IEC 19794-5, 2011.</a:t>
            </a:r>
          </a:p>
          <a:p>
            <a:pPr>
              <a:lnSpc>
                <a:spcPct val="100000"/>
              </a:lnSpc>
              <a:spcBef>
                <a:spcPts val="200"/>
              </a:spcBef>
            </a:pPr>
            <a:r>
              <a:rPr lang="en-US" sz="1100" dirty="0">
                <a:latin typeface="Times New Roman"/>
                <a:cs typeface="Times New Roman"/>
              </a:rPr>
              <a:t>[8]</a:t>
            </a:r>
            <a:r>
              <a:rPr lang="en-US" sz="1100" dirty="0">
                <a:latin typeface="Calibri"/>
                <a:ea typeface="Calibri"/>
                <a:cs typeface="Calibri"/>
              </a:rPr>
              <a:t> </a:t>
            </a:r>
            <a:r>
              <a:rPr lang="en-US" sz="1100" i="1" dirty="0">
                <a:latin typeface="Times New Roman"/>
                <a:cs typeface="Times New Roman"/>
              </a:rPr>
              <a:t>ISO/IEC 19794-5 | </a:t>
            </a:r>
            <a:r>
              <a:rPr lang="en-US" sz="1100" i="1" err="1">
                <a:latin typeface="Times New Roman"/>
                <a:cs typeface="Times New Roman"/>
              </a:rPr>
              <a:t>Correlance</a:t>
            </a:r>
            <a:r>
              <a:rPr lang="en-US" sz="1100" dirty="0">
                <a:latin typeface="Times New Roman"/>
                <a:cs typeface="Times New Roman"/>
              </a:rPr>
              <a:t>. Source: [Online]. Available: </a:t>
            </a:r>
            <a:r>
              <a:rPr lang="en-US" sz="1100" dirty="0">
                <a:latin typeface="Times New Roman"/>
                <a:cs typeface="Times New Roman"/>
                <a:hlinkClick r:id="rId8"/>
              </a:rPr>
              <a:t>https://www.correlance.com/cms/en/iso19794-5</a:t>
            </a:r>
            <a:r>
              <a:rPr lang="en-US" sz="1100" dirty="0">
                <a:latin typeface="Times New Roman"/>
                <a:cs typeface="Times New Roman"/>
              </a:rPr>
              <a:t>.</a:t>
            </a:r>
          </a:p>
          <a:p>
            <a:pPr>
              <a:lnSpc>
                <a:spcPct val="100000"/>
              </a:lnSpc>
              <a:spcBef>
                <a:spcPts val="200"/>
              </a:spcBef>
            </a:pPr>
            <a:r>
              <a:rPr lang="en-US" sz="1100" dirty="0">
                <a:latin typeface="Times New Roman"/>
                <a:cs typeface="Times New Roman"/>
              </a:rPr>
              <a:t>[9]</a:t>
            </a:r>
            <a:r>
              <a:rPr lang="en-US" sz="1100" dirty="0">
                <a:latin typeface="Calibri"/>
                <a:ea typeface="Calibri"/>
                <a:cs typeface="Calibri"/>
              </a:rPr>
              <a:t> </a:t>
            </a:r>
            <a:r>
              <a:rPr lang="en-US" sz="1100" dirty="0">
                <a:latin typeface="Times New Roman"/>
                <a:cs typeface="Times New Roman"/>
              </a:rPr>
              <a:t>J. Deng, J. Guo, J. Yang, N. Xue, I. </a:t>
            </a:r>
            <a:r>
              <a:rPr lang="en-US" sz="1100" err="1">
                <a:latin typeface="Times New Roman"/>
                <a:cs typeface="Times New Roman"/>
              </a:rPr>
              <a:t>Kotsia</a:t>
            </a:r>
            <a:r>
              <a:rPr lang="en-US" sz="1100" dirty="0">
                <a:latin typeface="Times New Roman"/>
                <a:cs typeface="Times New Roman"/>
              </a:rPr>
              <a:t>, and S. Zafeiriou, “</a:t>
            </a:r>
            <a:r>
              <a:rPr lang="en-US" sz="1100" err="1">
                <a:latin typeface="Times New Roman"/>
                <a:cs typeface="Times New Roman"/>
              </a:rPr>
              <a:t>ArcFace</a:t>
            </a:r>
            <a:r>
              <a:rPr lang="en-US" sz="1100" dirty="0">
                <a:latin typeface="Times New Roman"/>
                <a:cs typeface="Times New Roman"/>
              </a:rPr>
              <a:t>: Additive Angular Margin Loss for Deep Face Recognition,” </a:t>
            </a:r>
            <a:r>
              <a:rPr lang="en-US" sz="1100" i="1" dirty="0">
                <a:latin typeface="Times New Roman"/>
                <a:cs typeface="Times New Roman"/>
              </a:rPr>
              <a:t>IEEE Transactions on Pattern Analysis and Machine Intelligence</a:t>
            </a:r>
            <a:r>
              <a:rPr lang="en-US" sz="1100" dirty="0">
                <a:latin typeface="Times New Roman"/>
                <a:cs typeface="Times New Roman"/>
              </a:rPr>
              <a:t>, vol. 44, no. 1939–3539, pp. 5962–5979, Jan. 2018, </a:t>
            </a:r>
            <a:r>
              <a:rPr lang="en-US" sz="1100" err="1">
                <a:latin typeface="Times New Roman"/>
                <a:cs typeface="Times New Roman"/>
              </a:rPr>
              <a:t>doi</a:t>
            </a:r>
            <a:r>
              <a:rPr lang="en-US" sz="1100" dirty="0">
                <a:latin typeface="Times New Roman"/>
                <a:cs typeface="Times New Roman"/>
              </a:rPr>
              <a:t>: 10.1109/tpami.2021.3087709.</a:t>
            </a:r>
          </a:p>
          <a:p>
            <a:pPr>
              <a:lnSpc>
                <a:spcPct val="100000"/>
              </a:lnSpc>
              <a:spcBef>
                <a:spcPts val="200"/>
              </a:spcBef>
            </a:pPr>
            <a:r>
              <a:rPr lang="en-US" sz="1100" dirty="0">
                <a:latin typeface="Times New Roman"/>
                <a:cs typeface="Times New Roman"/>
              </a:rPr>
              <a:t>[10]</a:t>
            </a:r>
            <a:r>
              <a:rPr lang="en-US" sz="1100" dirty="0">
                <a:latin typeface="Calibri"/>
                <a:ea typeface="Calibri"/>
                <a:cs typeface="Calibri"/>
              </a:rPr>
              <a:t> </a:t>
            </a:r>
            <a:r>
              <a:rPr lang="en-US" sz="1100" dirty="0">
                <a:latin typeface="Times New Roman"/>
                <a:cs typeface="Times New Roman"/>
              </a:rPr>
              <a:t>J. Guo, J. Deng, X. An, J. Yu, and B. </a:t>
            </a:r>
            <a:r>
              <a:rPr lang="en-US" sz="1100" err="1">
                <a:latin typeface="Times New Roman"/>
                <a:cs typeface="Times New Roman"/>
              </a:rPr>
              <a:t>Gecer</a:t>
            </a:r>
            <a:r>
              <a:rPr lang="en-US" sz="1100" dirty="0">
                <a:latin typeface="Times New Roman"/>
                <a:cs typeface="Times New Roman"/>
              </a:rPr>
              <a:t>, (2024), “</a:t>
            </a:r>
            <a:r>
              <a:rPr lang="en-US" sz="1100" err="1">
                <a:latin typeface="Times New Roman"/>
                <a:cs typeface="Times New Roman"/>
              </a:rPr>
              <a:t>InsightFace</a:t>
            </a:r>
            <a:r>
              <a:rPr lang="en-US" sz="1100" dirty="0">
                <a:latin typeface="Times New Roman"/>
                <a:cs typeface="Times New Roman"/>
              </a:rPr>
              <a:t>: 2D and 3D Face Analysis Project.” Source: [Online]. Available: </a:t>
            </a:r>
            <a:r>
              <a:rPr lang="en-US" sz="1100" dirty="0">
                <a:latin typeface="Times New Roman"/>
                <a:cs typeface="Times New Roman"/>
                <a:hlinkClick r:id="rId9"/>
              </a:rPr>
              <a:t>https://github.com/deepinsight/insightface</a:t>
            </a:r>
            <a:r>
              <a:rPr lang="en-US" sz="1100" dirty="0">
                <a:latin typeface="Times New Roman"/>
                <a:cs typeface="Times New Roman"/>
              </a:rPr>
              <a:t>.</a:t>
            </a:r>
          </a:p>
          <a:p>
            <a:pPr>
              <a:lnSpc>
                <a:spcPct val="100000"/>
              </a:lnSpc>
              <a:spcBef>
                <a:spcPts val="200"/>
              </a:spcBef>
            </a:pPr>
            <a:r>
              <a:rPr lang="en-US" sz="1100" dirty="0">
                <a:latin typeface="Times New Roman"/>
                <a:cs typeface="Times New Roman"/>
              </a:rPr>
              <a:t>[11]</a:t>
            </a:r>
            <a:r>
              <a:rPr lang="en-US" sz="1100" dirty="0">
                <a:latin typeface="Calibri"/>
                <a:ea typeface="Calibri"/>
                <a:cs typeface="Calibri"/>
              </a:rPr>
              <a:t> </a:t>
            </a:r>
            <a:r>
              <a:rPr lang="en-US" sz="1100" dirty="0">
                <a:latin typeface="Times New Roman"/>
                <a:cs typeface="Times New Roman"/>
              </a:rPr>
              <a:t>Li, L., Mu, X., Li, S., &amp; Peng, H, “A Review of Face Recognition Technology”. </a:t>
            </a:r>
            <a:r>
              <a:rPr lang="en-US" sz="1100" i="1" dirty="0">
                <a:latin typeface="Times New Roman"/>
                <a:cs typeface="Times New Roman"/>
              </a:rPr>
              <a:t>IEEE Access</a:t>
            </a:r>
            <a:r>
              <a:rPr lang="en-US" sz="1100" dirty="0">
                <a:latin typeface="Times New Roman"/>
                <a:cs typeface="Times New Roman"/>
              </a:rPr>
              <a:t>, 8, 139110–139120. 2022. doi:10.1109/access.2020.3011028.</a:t>
            </a:r>
          </a:p>
          <a:p>
            <a:pPr>
              <a:lnSpc>
                <a:spcPct val="100000"/>
              </a:lnSpc>
              <a:spcBef>
                <a:spcPts val="200"/>
              </a:spcBef>
            </a:pPr>
            <a:r>
              <a:rPr lang="en-US" sz="1100" dirty="0">
                <a:latin typeface="Times New Roman"/>
                <a:cs typeface="Times New Roman"/>
              </a:rPr>
              <a:t>[12]</a:t>
            </a:r>
            <a:r>
              <a:rPr lang="en-US" sz="1100" dirty="0">
                <a:latin typeface="Calibri"/>
                <a:ea typeface="Calibri"/>
                <a:cs typeface="Calibri"/>
              </a:rPr>
              <a:t> </a:t>
            </a:r>
            <a:r>
              <a:rPr lang="en-US" sz="1100" dirty="0">
                <a:latin typeface="Times New Roman"/>
                <a:cs typeface="Times New Roman"/>
              </a:rPr>
              <a:t>M. Chen, W. Qian, J. He, and Z. Zhao, “Research on the application of face recognition system,” Sep. 2022, </a:t>
            </a:r>
            <a:r>
              <a:rPr lang="en-US" sz="1100" err="1">
                <a:latin typeface="Times New Roman"/>
                <a:cs typeface="Times New Roman"/>
              </a:rPr>
              <a:t>doi</a:t>
            </a:r>
            <a:r>
              <a:rPr lang="en-US" sz="1100" dirty="0">
                <a:latin typeface="Times New Roman"/>
                <a:cs typeface="Times New Roman"/>
              </a:rPr>
              <a:t>: 10.1088/1742-6596/1684/1/012126.</a:t>
            </a:r>
          </a:p>
          <a:p>
            <a:pPr>
              <a:lnSpc>
                <a:spcPct val="100000"/>
              </a:lnSpc>
              <a:spcBef>
                <a:spcPts val="200"/>
              </a:spcBef>
            </a:pPr>
            <a:r>
              <a:rPr lang="en-US" sz="1100" dirty="0">
                <a:latin typeface="Times New Roman"/>
                <a:cs typeface="Times New Roman"/>
              </a:rPr>
              <a:t>[13]</a:t>
            </a:r>
            <a:r>
              <a:rPr lang="en-US" sz="1100" dirty="0">
                <a:latin typeface="Calibri"/>
                <a:ea typeface="Calibri"/>
                <a:cs typeface="Calibri"/>
              </a:rPr>
              <a:t> </a:t>
            </a:r>
            <a:r>
              <a:rPr lang="en-US" sz="1100" dirty="0">
                <a:latin typeface="Times New Roman"/>
                <a:cs typeface="Times New Roman"/>
              </a:rPr>
              <a:t>Schroff, F., </a:t>
            </a:r>
            <a:r>
              <a:rPr lang="en-US" sz="1100" err="1">
                <a:latin typeface="Times New Roman"/>
                <a:cs typeface="Times New Roman"/>
              </a:rPr>
              <a:t>Kalenichenko</a:t>
            </a:r>
            <a:r>
              <a:rPr lang="en-US" sz="1100" dirty="0">
                <a:latin typeface="Times New Roman"/>
                <a:cs typeface="Times New Roman"/>
              </a:rPr>
              <a:t>, D., &amp; Philbin, J, “</a:t>
            </a:r>
            <a:r>
              <a:rPr lang="en-US" sz="1100" err="1">
                <a:latin typeface="Times New Roman"/>
                <a:cs typeface="Times New Roman"/>
              </a:rPr>
              <a:t>FaceNet</a:t>
            </a:r>
            <a:r>
              <a:rPr lang="en-US" sz="1100" dirty="0">
                <a:latin typeface="Times New Roman"/>
                <a:cs typeface="Times New Roman"/>
              </a:rPr>
              <a:t>: A unified embedding for face recognition and clustering”. </a:t>
            </a:r>
            <a:r>
              <a:rPr lang="en-US" sz="1100" i="1" dirty="0">
                <a:latin typeface="Times New Roman"/>
                <a:cs typeface="Times New Roman"/>
              </a:rPr>
              <a:t>2015 IEEE Conference on Computer Vision and Pattern Recognition (CVPR)</a:t>
            </a:r>
            <a:r>
              <a:rPr lang="en-US" sz="1100" dirty="0">
                <a:latin typeface="Times New Roman"/>
                <a:cs typeface="Times New Roman"/>
              </a:rPr>
              <a:t>. 2015. doi:10.1109/cvpr.2015.7298682.</a:t>
            </a:r>
          </a:p>
          <a:p>
            <a:pPr>
              <a:lnSpc>
                <a:spcPct val="100000"/>
              </a:lnSpc>
              <a:spcBef>
                <a:spcPts val="200"/>
              </a:spcBef>
            </a:pPr>
            <a:r>
              <a:rPr lang="en-US" sz="1100" dirty="0">
                <a:latin typeface="Times New Roman"/>
                <a:cs typeface="Times New Roman"/>
              </a:rPr>
              <a:t>[14]</a:t>
            </a:r>
            <a:r>
              <a:rPr lang="en-US" sz="1100" dirty="0">
                <a:latin typeface="Calibri"/>
                <a:ea typeface="Calibri"/>
                <a:cs typeface="Calibri"/>
              </a:rPr>
              <a:t> </a:t>
            </a:r>
            <a:r>
              <a:rPr lang="en-US" sz="1100" dirty="0">
                <a:latin typeface="Times New Roman"/>
                <a:cs typeface="Times New Roman"/>
              </a:rPr>
              <a:t>S. Wang, “Facial Recognition in Forensic Investigations: Advancements and Applications,” </a:t>
            </a:r>
            <a:r>
              <a:rPr lang="en-US" sz="1100" i="1" dirty="0">
                <a:latin typeface="Times New Roman"/>
                <a:cs typeface="Times New Roman"/>
              </a:rPr>
              <a:t>J Forensic </a:t>
            </a:r>
            <a:r>
              <a:rPr lang="en-US" sz="1100" i="1" err="1">
                <a:latin typeface="Times New Roman"/>
                <a:cs typeface="Times New Roman"/>
              </a:rPr>
              <a:t>Toxicol</a:t>
            </a:r>
            <a:r>
              <a:rPr lang="en-US" sz="1100" i="1" dirty="0">
                <a:latin typeface="Times New Roman"/>
                <a:cs typeface="Times New Roman"/>
              </a:rPr>
              <a:t> </a:t>
            </a:r>
            <a:r>
              <a:rPr lang="en-US" sz="1100" i="1" err="1">
                <a:latin typeface="Times New Roman"/>
                <a:cs typeface="Times New Roman"/>
              </a:rPr>
              <a:t>Pharmaco</a:t>
            </a:r>
            <a:r>
              <a:rPr lang="en-US" sz="1100" err="1">
                <a:latin typeface="Times New Roman"/>
                <a:cs typeface="Times New Roman"/>
              </a:rPr>
              <a:t>l</a:t>
            </a:r>
            <a:r>
              <a:rPr lang="en-US" sz="1100" dirty="0">
                <a:latin typeface="Times New Roman"/>
                <a:cs typeface="Times New Roman"/>
              </a:rPr>
              <a:t>, vol. 12, no. 2, Jun. 2023, doi:10.4172/JFTP.1000152.</a:t>
            </a:r>
          </a:p>
          <a:p>
            <a:pPr>
              <a:lnSpc>
                <a:spcPct val="100000"/>
              </a:lnSpc>
              <a:spcBef>
                <a:spcPts val="200"/>
              </a:spcBef>
            </a:pPr>
            <a:r>
              <a:rPr lang="en-US" sz="1100" dirty="0">
                <a:latin typeface="Times New Roman"/>
                <a:cs typeface="Times New Roman"/>
              </a:rPr>
              <a:t>[15]</a:t>
            </a:r>
            <a:r>
              <a:rPr lang="en-US" sz="1100" dirty="0">
                <a:latin typeface="Calibri"/>
                <a:ea typeface="Calibri"/>
                <a:cs typeface="Calibri"/>
              </a:rPr>
              <a:t> </a:t>
            </a:r>
            <a:r>
              <a:rPr lang="en-US" sz="1100" i="1" dirty="0">
                <a:latin typeface="Times New Roman"/>
                <a:cs typeface="Times New Roman"/>
              </a:rPr>
              <a:t>TSA introduces state-of-the art identity verification technology at DEN security checkpoints | Transportation Security Administration</a:t>
            </a:r>
            <a:r>
              <a:rPr lang="en-US" sz="1100" dirty="0">
                <a:latin typeface="Times New Roman"/>
                <a:cs typeface="Times New Roman"/>
              </a:rPr>
              <a:t>, </a:t>
            </a:r>
            <a:r>
              <a:rPr lang="en-US" sz="1100" dirty="0">
                <a:latin typeface="Times New Roman"/>
                <a:cs typeface="Times New Roman"/>
                <a:hlinkClick r:id="rId10"/>
              </a:rPr>
              <a:t>www.tsa.gov</a:t>
            </a:r>
            <a:r>
              <a:rPr lang="en-US" sz="1100" dirty="0">
                <a:latin typeface="Times New Roman"/>
                <a:cs typeface="Times New Roman"/>
              </a:rPr>
              <a:t>, Nov. 18, 2022. [Online]. Available: </a:t>
            </a:r>
            <a:r>
              <a:rPr lang="en-US" sz="1100" dirty="0">
                <a:latin typeface="Times New Roman"/>
                <a:cs typeface="Times New Roman"/>
                <a:hlinkClick r:id="rId11"/>
              </a:rPr>
              <a:t>https://www.tsa.gov/news/press/releases/2022/11/18/tsa-introduces-state-art-identity-verification-technology-den</a:t>
            </a:r>
            <a:r>
              <a:rPr lang="en-US" sz="1100" dirty="0">
                <a:latin typeface="Times New Roman"/>
                <a:cs typeface="Times New Roman"/>
              </a:rPr>
              <a:t>.</a:t>
            </a:r>
          </a:p>
          <a:p>
            <a:pPr>
              <a:lnSpc>
                <a:spcPct val="100000"/>
              </a:lnSpc>
              <a:spcBef>
                <a:spcPts val="200"/>
              </a:spcBef>
            </a:pPr>
            <a:r>
              <a:rPr lang="en-US" sz="1100" dirty="0">
                <a:latin typeface="Times New Roman"/>
                <a:cs typeface="Times New Roman"/>
              </a:rPr>
              <a:t>[16]</a:t>
            </a:r>
            <a:r>
              <a:rPr lang="en-US" sz="1100" dirty="0">
                <a:latin typeface="Calibri"/>
                <a:ea typeface="Calibri"/>
                <a:cs typeface="Calibri"/>
              </a:rPr>
              <a:t> </a:t>
            </a:r>
            <a:r>
              <a:rPr lang="en-US" sz="1100" dirty="0">
                <a:latin typeface="Times New Roman"/>
                <a:cs typeface="Times New Roman"/>
              </a:rPr>
              <a:t>Y. Huang, Y. Wang, Y. Tai, X. Liu, P. Shen, S. Li, J. Li, and F. Huang, (2020), “</a:t>
            </a:r>
            <a:r>
              <a:rPr lang="en-US" sz="1100" err="1">
                <a:latin typeface="Times New Roman"/>
                <a:cs typeface="Times New Roman"/>
              </a:rPr>
              <a:t>CurricularFace</a:t>
            </a:r>
            <a:r>
              <a:rPr lang="en-US" sz="1100" dirty="0">
                <a:latin typeface="Times New Roman"/>
                <a:cs typeface="Times New Roman"/>
              </a:rPr>
              <a:t>: Adaptive Curriculum Learning Loss for Deep Face Recognition”, </a:t>
            </a:r>
            <a:r>
              <a:rPr lang="en-US" sz="1100" i="1" dirty="0">
                <a:latin typeface="Times New Roman"/>
                <a:cs typeface="Times New Roman"/>
              </a:rPr>
              <a:t>CVPR</a:t>
            </a:r>
            <a:r>
              <a:rPr lang="en-US" sz="1100" dirty="0">
                <a:latin typeface="Times New Roman"/>
                <a:cs typeface="Times New Roman"/>
              </a:rPr>
              <a:t>. Source: [Online]. Available: </a:t>
            </a:r>
            <a:r>
              <a:rPr lang="en-US" sz="1100" dirty="0">
                <a:latin typeface="Times New Roman"/>
                <a:cs typeface="Times New Roman"/>
                <a:hlinkClick r:id="rId12"/>
              </a:rPr>
              <a:t>https://github.com/HuangYG123/CurricularFace</a:t>
            </a:r>
            <a:r>
              <a:rPr lang="en-US" sz="1100" dirty="0">
                <a:latin typeface="Times New Roman"/>
                <a:cs typeface="Times New Roman"/>
              </a:rPr>
              <a:t>.</a:t>
            </a:r>
          </a:p>
          <a:p>
            <a:pPr>
              <a:lnSpc>
                <a:spcPct val="100000"/>
              </a:lnSpc>
              <a:spcBef>
                <a:spcPts val="200"/>
              </a:spcBef>
            </a:pPr>
            <a:r>
              <a:rPr lang="en-US" sz="1100" dirty="0">
                <a:latin typeface="Times New Roman"/>
                <a:cs typeface="Times New Roman"/>
              </a:rPr>
              <a:t>[17]</a:t>
            </a:r>
            <a:r>
              <a:rPr lang="en-US" sz="1100" dirty="0">
                <a:latin typeface="Calibri"/>
                <a:ea typeface="Calibri"/>
                <a:cs typeface="Calibri"/>
              </a:rPr>
              <a:t> </a:t>
            </a:r>
            <a:r>
              <a:rPr lang="en-US" sz="1100" dirty="0">
                <a:latin typeface="Times New Roman"/>
                <a:cs typeface="Times New Roman"/>
              </a:rPr>
              <a:t>Z. Liu, P. Luo, X. Wang, and X. Tang, “Deep Learning Face Attributes in the Wild,” Proceedings of International Conference on Computer Vision (ICCV), Dec. 2015. Source: [Online]. Available: </a:t>
            </a:r>
            <a:r>
              <a:rPr lang="en-US" sz="1100" dirty="0">
                <a:latin typeface="Times New Roman"/>
                <a:cs typeface="Times New Roman"/>
                <a:hlinkClick r:id="rId13"/>
              </a:rPr>
              <a:t>https://mmlab.ie.cuhk.edu.hk/projects/CelebA.html</a:t>
            </a:r>
            <a:r>
              <a:rPr lang="en-US" sz="1100" dirty="0">
                <a:latin typeface="Times New Roman"/>
                <a:cs typeface="Times New Roman"/>
              </a:rPr>
              <a:t>.</a:t>
            </a:r>
          </a:p>
          <a:p>
            <a:pPr>
              <a:lnSpc>
                <a:spcPct val="100000"/>
              </a:lnSpc>
              <a:spcBef>
                <a:spcPts val="200"/>
              </a:spcBef>
            </a:pPr>
            <a:endParaRPr lang="en-US" sz="1100" dirty="0"/>
          </a:p>
        </p:txBody>
      </p:sp>
    </p:spTree>
    <p:extLst>
      <p:ext uri="{BB962C8B-B14F-4D97-AF65-F5344CB8AC3E}">
        <p14:creationId xmlns:p14="http://schemas.microsoft.com/office/powerpoint/2010/main" val="1809996064"/>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2129</Words>
  <Application>Microsoft Macintosh PowerPoint</Application>
  <PresentationFormat>Widescreen</PresentationFormat>
  <Paragraphs>177</Paragraphs>
  <Slides>36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Aptos</vt:lpstr>
      <vt:lpstr>Arial</vt:lpstr>
      <vt:lpstr>Calibri</vt:lpstr>
      <vt:lpstr>Century Schoolbook</vt:lpstr>
      <vt:lpstr>Courier New</vt:lpstr>
      <vt:lpstr>Times New Roman</vt:lpstr>
      <vt:lpstr>Wingdings 2</vt:lpstr>
      <vt:lpstr>View</vt:lpstr>
      <vt:lpstr>Visible Face Recognition</vt:lpstr>
      <vt:lpstr>Contents</vt:lpstr>
      <vt:lpstr>Phase I</vt:lpstr>
      <vt:lpstr>Visible Face Recognition</vt:lpstr>
      <vt:lpstr>Examples and Applications</vt:lpstr>
      <vt:lpstr>Examples and Applications</vt:lpstr>
      <vt:lpstr>Publicly available databases</vt:lpstr>
      <vt:lpstr>Standardization</vt:lpstr>
      <vt:lpstr>Acquisition</vt:lpstr>
      <vt:lpstr>ISO/IEC 19794-5</vt:lpstr>
      <vt:lpstr>Phase II</vt:lpstr>
      <vt:lpstr>Introduction to Evaluation</vt:lpstr>
      <vt:lpstr>Which algorithms?</vt:lpstr>
      <vt:lpstr>Brief Explanation of Both Algorithms</vt:lpstr>
      <vt:lpstr>Arcface</vt:lpstr>
      <vt:lpstr>CurricularFace</vt:lpstr>
      <vt:lpstr>Distance Metric</vt:lpstr>
      <vt:lpstr>Experiment Process</vt:lpstr>
      <vt:lpstr>Setting 1: 200x3</vt:lpstr>
      <vt:lpstr>Setting 1 – ROC Curve (Arcface)</vt:lpstr>
      <vt:lpstr>Setting 1 – CMC Curve (Arcface)</vt:lpstr>
      <vt:lpstr>Setting 1 – FPIR vs FNIR Curve (Arcface)</vt:lpstr>
      <vt:lpstr>Setting 1 – ROC Curve (Curricular)</vt:lpstr>
      <vt:lpstr>Setting 1 – CMC Curve (Curricular)</vt:lpstr>
      <vt:lpstr>Setting 1 – FPIR vs FNIR Curve (Curricular)</vt:lpstr>
      <vt:lpstr>Setting 1 – ROC Curve (Comparison)</vt:lpstr>
      <vt:lpstr>Setting 1 – CMC Curve (Comparison)</vt:lpstr>
      <vt:lpstr>Setting 1 – FPIR vs FNIR Curve (Comparison)</vt:lpstr>
      <vt:lpstr>Setting 2: 300x4</vt:lpstr>
      <vt:lpstr>Setting 2 – ROC Curve</vt:lpstr>
      <vt:lpstr>Setting 2 – CMC Curve</vt:lpstr>
      <vt:lpstr>Setting 2 – FPIR vs FNIR Curve</vt:lpstr>
      <vt:lpstr>Limitations and Improvements</vt:lpstr>
      <vt:lpstr>Limitations</vt:lpstr>
      <vt:lpstr>Improvements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HEO, sunghak [Student]</cp:lastModifiedBy>
  <cp:revision>295</cp:revision>
  <dcterms:created xsi:type="dcterms:W3CDTF">2025-04-11T22:06:18Z</dcterms:created>
  <dcterms:modified xsi:type="dcterms:W3CDTF">2025-04-15T09:32:06Z</dcterms:modified>
</cp:coreProperties>
</file>